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a:solidFill>
                  <a:srgbClr val="14142B"/>
                </a:solidFill>
              </a:rPr>
              <a:t>NDCG@10, AppsRetrieval test split (3,765 queries)</a:t>
            </a:r>
          </a:p>
        </c:rich>
      </c:tx>
      <c:layout/>
      <c:overlay val="0"/>
    </c:title>
    <c:autoTitleDeleted val="0"/>
    <c:plotArea>
      <c:barChart>
        <c:barDir val="bar"/>
        <c:grouping val="clustered"/>
        <c:ser>
          <c:idx val="0"/>
          <c:order val="0"/>
          <c:tx>
            <c:strRef>
              <c:f>Sheet1!$B$1</c:f>
              <c:strCache>
                <c:ptCount val="1"/>
                <c:pt idx="0">
                  <c:v>NDCG@10</c:v>
                </c:pt>
              </c:strCache>
            </c:strRef>
          </c:tx>
          <c:dPt>
            <c:idx val="0"/>
            <c:spPr>
              <a:solidFill>
                <a:srgbClr val="B4B4C4"/>
              </a:solidFill>
            </c:spPr>
          </c:dPt>
          <c:dPt>
            <c:idx val="1"/>
            <c:spPr>
              <a:solidFill>
                <a:srgbClr val="B4B4C4"/>
              </a:solidFill>
            </c:spPr>
          </c:dPt>
          <c:dPt>
            <c:idx val="2"/>
            <c:spPr>
              <a:solidFill>
                <a:srgbClr val="6D28D9"/>
              </a:solidFill>
            </c:spPr>
          </c:dPt>
          <c:dPt>
            <c:idx val="3"/>
            <c:spPr>
              <a:solidFill>
                <a:srgbClr val="B4B4C4"/>
              </a:solidFill>
            </c:spPr>
          </c:dPt>
          <c:dPt>
            <c:idx val="4"/>
            <c:spPr>
              <a:solidFill>
                <a:srgbClr val="B4B4C4"/>
              </a:solidFill>
            </c:spPr>
          </c:dPt>
          <c:cat>
            <c:strRef>
              <c:f>Sheet1!$A$2:$A$6</c:f>
              <c:strCache>
                <c:ptCount val="5"/>
                <c:pt idx="0">
                  <c:v>BM25</c:v>
                </c:pt>
                <c:pt idx="1">
                  <c:v>E5-base-v2, dense</c:v>
                </c:pt>
                <c:pt idx="2">
                  <c:v>Ours: E5-base-v2 + execution</c:v>
                </c:pt>
                <c:pt idx="3">
                  <c:v>E5-Mistral-7B</c:v>
                </c:pt>
                <c:pt idx="4">
                  <c:v>Voyage-Code-002 (API)</c:v>
                </c:pt>
              </c:strCache>
            </c:strRef>
          </c:cat>
          <c:val>
            <c:numRef>
              <c:f>Sheet1!$B$2:$B$6</c:f>
              <c:numCache>
                <c:formatCode>General</c:formatCode>
                <c:ptCount val="5"/>
                <c:pt idx="0">
                  <c:v>0.95</c:v>
                </c:pt>
                <c:pt idx="1">
                  <c:v>11.52</c:v>
                </c:pt>
                <c:pt idx="2">
                  <c:v>20.71</c:v>
                </c:pt>
                <c:pt idx="3">
                  <c:v>21.33</c:v>
                </c:pt>
                <c:pt idx="4">
                  <c:v>26.52</c:v>
                </c:pt>
              </c:numCache>
            </c:numRef>
          </c:val>
        </c:ser>
        <c:dLbls>
          <c:numFmt formatCode="0.00" sourceLinked="0"/>
          <c:txPr>
            <a:bodyPr/>
            <a:lstStyle/>
            <a:p>
              <a:pPr>
                <a:defRPr sz="1200" b="1"/>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max val="3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08-09-2026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40" y="3310128"/>
            <a:ext cx="5852160" cy="77724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63637E"/>
                </a:solidFill>
                <a:latin typeface="Calibri" pitchFamily="34" charset="0"/>
                <a:ea typeface="Calibri" pitchFamily="34" charset="-122"/>
                <a:cs typeface="Calibri" pitchFamily="34" charset="-120"/>
              </a:rPr>
              <a:t>Theme ID - 1 (Agentic Code Intelligence)</a:t>
            </a:r>
          </a:p>
          <a:p>
            <a:pPr marL="177800" indent="-177800">
              <a:spcAft>
                <a:spcPts val="500"/>
              </a:spcAft>
              <a:buSzPct val="100000"/>
              <a:buChar char="•"/>
            </a:pPr>
            <a:r>
              <a:rPr lang="en-US" sz="1400" dirty="0">
                <a:solidFill>
                  <a:srgbClr val="63637E"/>
                </a:solidFill>
                <a:latin typeface="Calibri" pitchFamily="34" charset="0"/>
                <a:ea typeface="Calibri" pitchFamily="34" charset="-122"/>
                <a:cs typeface="Calibri" pitchFamily="34" charset="-120"/>
              </a:rPr>
              <a:t>Team Name - [TEAM NAME]</a:t>
            </a:r>
          </a:p>
          <a:p>
            <a:pPr marL="177800" indent="-177800">
              <a:spcAft>
                <a:spcPts val="500"/>
              </a:spcAft>
              <a:buSzPct val="100000"/>
              <a:buChar char="•"/>
            </a:pPr>
            <a:r>
              <a:rPr lang="en-US" sz="1400" dirty="0">
                <a:solidFill>
                  <a:srgbClr val="63637E"/>
                </a:solidFill>
                <a:latin typeface="Calibri" pitchFamily="34" charset="0"/>
                <a:ea typeface="Calibri" pitchFamily="34" charset="-122"/>
                <a:cs typeface="Calibri" pitchFamily="34" charset="-120"/>
              </a:rPr>
              <a:t>College Name - VIT Vellore (VITV)</a:t>
            </a:r>
          </a:p>
          <a:p>
            <a:pPr marL="177800" indent="-177800">
              <a:spcAft>
                <a:spcPts val="500"/>
              </a:spcAft>
              <a:buSzPct val="100000"/>
              <a:buChar char="•"/>
            </a:pPr>
            <a:r>
              <a:rPr lang="en-US" sz="1400" dirty="0">
                <a:solidFill>
                  <a:srgbClr val="63637E"/>
                </a:solidFill>
                <a:latin typeface="Calibri" pitchFamily="34" charset="0"/>
                <a:ea typeface="Calibri" pitchFamily="34" charset="-122"/>
                <a:cs typeface="Calibri" pitchFamily="34" charset="-120"/>
              </a:rPr>
              <a:t>Member Name &amp; Email 1- Chiranjib Dash, chiranjib.dash2024@vitstudent.ac.in</a:t>
            </a:r>
          </a:p>
          <a:p>
            <a:pPr marL="177800" indent="-177800">
              <a:spcAft>
                <a:spcPts val="500"/>
              </a:spcAft>
              <a:buSzPct val="100000"/>
              <a:buChar char="•"/>
            </a:pPr>
            <a:r>
              <a:rPr lang="en-US" sz="1400" dirty="0">
                <a:solidFill>
                  <a:srgbClr val="63637E"/>
                </a:solidFill>
                <a:latin typeface="Calibri" pitchFamily="34" charset="0"/>
                <a:ea typeface="Calibri" pitchFamily="34" charset="-122"/>
                <a:cs typeface="Calibri" pitchFamily="34" charset="-120"/>
              </a:rPr>
              <a:t>Member Name &amp; Email 2- [name, email]</a:t>
            </a:r>
          </a:p>
          <a:p>
            <a:pPr marL="177800" indent="-177800">
              <a:spcAft>
                <a:spcPts val="500"/>
              </a:spcAft>
              <a:buSzPct val="100000"/>
              <a:buFontTx/>
              <a:buChar char="•"/>
            </a:pPr>
            <a:r>
              <a:rPr lang="en-US" sz="1400" dirty="0">
                <a:solidFill>
                  <a:srgbClr val="63637E"/>
                </a:solidFill>
                <a:latin typeface="Calibri" pitchFamily="34" charset="0"/>
                <a:ea typeface="Calibri" pitchFamily="34" charset="-122"/>
                <a:cs typeface="Calibri" pitchFamily="34" charset="-120"/>
              </a:rPr>
              <a:t>Member Name &amp; Email 3- [name, email]</a:t>
            </a:r>
          </a:p>
          <a:p>
            <a:pPr marL="177800" indent="-177800">
              <a:spcAft>
                <a:spcPts val="500"/>
              </a:spcAft>
              <a:buSzPct val="100000"/>
              <a:buFontTx/>
              <a:buChar char="•"/>
            </a:pPr>
            <a:r>
              <a:rPr lang="en-US" sz="1400" dirty="0">
                <a:solidFill>
                  <a:srgbClr val="63637E"/>
                </a:solidFill>
                <a:latin typeface="Calibri" pitchFamily="34" charset="0"/>
                <a:ea typeface="Calibri" pitchFamily="34" charset="-122"/>
                <a:cs typeface="Calibri" pitchFamily="34" charset="-120"/>
              </a:rPr>
              <a:t>Member Name &amp; Email 4- [name, email]</a:t>
            </a:r>
          </a:p>
          <a:p>
            <a:pPr marL="177800" indent="-177800">
              <a:spcAft>
                <a:spcPts val="500"/>
              </a:spcAft>
              <a:buSzPct val="100000"/>
              <a:buFontTx/>
              <a:buChar char="•"/>
            </a:pPr>
            <a:r>
              <a:rPr lang="en-US" sz="1400" dirty="0">
                <a:solidFill>
                  <a:srgbClr val="63637E"/>
                </a:solidFill>
                <a:latin typeface="Calibri" pitchFamily="34" charset="0"/>
                <a:ea typeface="Calibri" pitchFamily="34" charset="-122"/>
                <a:cs typeface="Calibri" pitchFamily="34" charset="-120"/>
              </a:rPr>
              <a:t>Submission Github link - https://github.com/Chiranjib-x/prism-genai-code-retrieval</a:t>
            </a:r>
          </a:p>
          <a:p>
            <a:pPr marL="177800" indent="-177800">
              <a:spcAft>
                <a:spcPts val="500"/>
              </a:spcAft>
              <a:buSzPct val="100000"/>
              <a:buChar char="•"/>
            </a:pPr>
            <a:endParaRPr lang="en-US" sz="1600" dirty="0">
              <a:solidFill>
                <a:srgbClr val="63637E"/>
              </a:solidFill>
              <a:latin typeface="Calibri" pitchFamily="34" charset="0"/>
              <a:ea typeface="Calibri" pitchFamily="34" charset="-122"/>
              <a:cs typeface="Calibri" pitchFamily="34" charset="-120"/>
            </a:endParaRPr>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Theme</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lstStyle/>
          <a:p>
            <a:pPr>
              <a:spcAft>
                <a:spcPts val="500"/>
              </a:spcAft>
            </a:pPr>
            <a:r>
              <a:rPr b="1" sz="2000">
                <a:solidFill>
                  <a:srgbClr val="6D28D9"/>
                </a:solidFill>
              </a:rPr>
              <a:t>Task: </a:t>
            </a:r>
            <a:r>
              <a:rPr sz="2000">
                <a:solidFill>
                  <a:srgbClr val="14142B"/>
                </a:solidFill>
              </a:rPr>
              <a:t>given a programming problem written in plain English, find the Python program that solves it, among 8,765 candidates</a:t>
            </a:r>
            <a:endParaRPr lang="en-IN"/>
          </a:p>
          <a:p>
            <a:pPr>
              <a:spcAft>
                <a:spcPts val="500"/>
              </a:spcAft>
            </a:pPr>
            <a:r>
              <a:rPr b="1" sz="2000">
                <a:solidFill>
                  <a:srgbClr val="6D28D9"/>
                </a:solidFill>
              </a:rPr>
              <a:t>Benchmark: </a:t>
            </a:r>
            <a:r>
              <a:rPr sz="2000">
                <a:solidFill>
                  <a:srgbClr val="14142B"/>
                </a:solidFill>
              </a:rPr>
              <a:t>CoIR AppsRetrieval through MTEB, 3,765 test queries, scored by NDCG@10</a:t>
            </a:r>
          </a:p>
          <a:p>
            <a:pPr>
              <a:spcAft>
                <a:spcPts val="500"/>
              </a:spcAft>
            </a:pPr>
            <a:r>
              <a:rPr b="1" sz="2000">
                <a:solidFill>
                  <a:srgbClr val="6D28D9"/>
                </a:solidFill>
              </a:rPr>
              <a:t>Constraint: </a:t>
            </a:r>
            <a:r>
              <a:rPr sz="2000">
                <a:solidFill>
                  <a:srgbClr val="14142B"/>
                </a:solidFill>
              </a:rPr>
              <a:t>CPU-only inference, no GPU</a:t>
            </a:r>
          </a:p>
          <a:p>
            <a:pPr>
              <a:spcAft>
                <a:spcPts val="500"/>
              </a:spcAft>
            </a:pPr>
            <a:r>
              <a:rPr b="1" sz="2000">
                <a:solidFill>
                  <a:srgbClr val="6D28D9"/>
                </a:solidFill>
              </a:rPr>
              <a:t>Scope: </a:t>
            </a:r>
            <a:r>
              <a:rPr sz="2000">
                <a:solidFill>
                  <a:srgbClr val="14142B"/>
                </a:solidFill>
              </a:rPr>
              <a:t>retrieval only; ranking quality is the score, generation is out of scope</a:t>
            </a:r>
          </a:p>
          <a:p>
            <a:pPr>
              <a:spcAft>
                <a:spcPts val="500"/>
              </a:spcAft>
            </a:pPr>
            <a:r>
              <a:rPr b="1" sz="2000">
                <a:solidFill>
                  <a:srgbClr val="6D28D9"/>
                </a:solidFill>
              </a:rPr>
              <a:t>P1: </a:t>
            </a:r>
            <a:r>
              <a:rPr sz="2000">
                <a:solidFill>
                  <a:srgbClr val="14142B"/>
                </a:solidFill>
              </a:rPr>
              <a:t>retrieval that stays correct as the code corpus changes across versions</a:t>
            </a:r>
          </a:p>
          <a:p>
            <a:pPr>
              <a:spcAft>
                <a:spcPts val="500"/>
              </a:spcAft>
            </a:pPr>
            <a:r>
              <a:rPr b="1" sz="2000">
                <a:solidFill>
                  <a:srgbClr val="6D28D9"/>
                </a:solidFill>
              </a:rPr>
              <a:t>Our system: </a:t>
            </a:r>
            <a:r>
              <a:rPr sz="2000">
                <a:solidFill>
                  <a:srgbClr val="14142B"/>
                </a:solidFill>
              </a:rPr>
              <a:t>execution-verified code retrieval on CPU. Stage 1 finds candidates by meaning; stage 2 runs them to check they work.</a:t>
            </a:r>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Existing Solutions &amp; Gaps</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lstStyle/>
          <a:p>
            <a:pPr>
              <a:spcAft>
                <a:spcPts val="500"/>
              </a:spcAft>
            </a:pPr>
            <a:r>
              <a:rPr b="1" sz="1800">
                <a:solidFill>
                  <a:srgbClr val="6D28D9"/>
                </a:solidFill>
              </a:rPr>
              <a:t>Lexical search: </a:t>
            </a:r>
            <a:r>
              <a:rPr sz="1800">
                <a:solidFill>
                  <a:srgbClr val="14142B"/>
                </a:solidFill>
              </a:rPr>
              <a:t>BM25 scores 0.95 NDCG@10; problem text and code share few words</a:t>
            </a:r>
            <a:endParaRPr lang="en-IN"/>
          </a:p>
          <a:p>
            <a:pPr>
              <a:spcAft>
                <a:spcPts val="500"/>
              </a:spcAft>
            </a:pPr>
            <a:r>
              <a:rPr b="1" sz="1800">
                <a:solidFill>
                  <a:srgbClr val="6D28D9"/>
                </a:solidFill>
              </a:rPr>
              <a:t>Older code encoders: </a:t>
            </a:r>
            <a:r>
              <a:rPr sz="1800">
                <a:solidFill>
                  <a:srgbClr val="14142B"/>
                </a:solidFill>
              </a:rPr>
              <a:t>UniXcoder 1.36; not trained for English-to-code search</a:t>
            </a:r>
          </a:p>
          <a:p>
            <a:pPr>
              <a:spcAft>
                <a:spcPts val="500"/>
              </a:spcAft>
            </a:pPr>
            <a:r>
              <a:rPr b="1" sz="1800">
                <a:solidFill>
                  <a:srgbClr val="6D28D9"/>
                </a:solidFill>
              </a:rPr>
              <a:t>General text embedders: </a:t>
            </a:r>
            <a:r>
              <a:rPr sz="1800">
                <a:solidFill>
                  <a:srgbClr val="14142B"/>
                </a:solidFill>
              </a:rPr>
              <a:t>BGE-base 4.05 · E5-base-v2 11.52 · E5-Mistral-7B 21.33 (7B parameters)</a:t>
            </a:r>
          </a:p>
          <a:p>
            <a:pPr>
              <a:spcAft>
                <a:spcPts val="500"/>
              </a:spcAft>
            </a:pPr>
            <a:r>
              <a:rPr b="1" sz="1800">
                <a:solidFill>
                  <a:srgbClr val="6D28D9"/>
                </a:solidFill>
              </a:rPr>
              <a:t>Code-retrieval embedders: </a:t>
            </a:r>
            <a:r>
              <a:rPr sz="1800">
                <a:solidFill>
                  <a:srgbClr val="14142B"/>
                </a:solidFill>
              </a:rPr>
              <a:t>CodeXEmbed 400M / 2B / 7B: 48.57 / 74.99 / 85.22 · Voyage-Code-002 26.52 (proprietary API)</a:t>
            </a:r>
          </a:p>
          <a:p>
            <a:pPr>
              <a:spcAft>
                <a:spcPts val="500"/>
              </a:spcAft>
            </a:pPr>
            <a:r>
              <a:rPr b="1" sz="1800">
                <a:solidFill>
                  <a:srgbClr val="6D28D9"/>
                </a:solidFill>
              </a:rPr>
              <a:t>The gap: </a:t>
            </a:r>
            <a:r>
              <a:rPr sz="1800">
                <a:solidFill>
                  <a:srgbClr val="14142B"/>
                </a:solidFill>
              </a:rPr>
              <a:t>every one ranks by similarity. None checks whether a program actually solves the problem, so similar-looking wrong programs outrank correct ones.</a:t>
            </a:r>
          </a:p>
          <a:p>
            <a:pPr>
              <a:spcAft>
                <a:spcPts val="500"/>
              </a:spcAft>
            </a:pPr>
            <a:r>
              <a:rPr b="1" sz="1800">
                <a:solidFill>
                  <a:srgbClr val="6D28D9"/>
                </a:solidFill>
              </a:rPr>
              <a:t>The unused signal: </a:t>
            </a:r>
            <a:r>
              <a:rPr sz="1800">
                <a:solidFill>
                  <a:srgbClr val="14142B"/>
                </a:solidFill>
              </a:rPr>
              <a:t>78% of queries contain worked examples (Input → Output), a free and exact test of correctness</a:t>
            </a:r>
          </a:p>
        </p:txBody>
      </p:sp>
      <p:sp>
        <p:nvSpPr>
          <p:cNvPr id="4" name="TextBox 3"/>
          <p:cNvSpPr txBox="1"/>
          <p:nvPr/>
        </p:nvSpPr>
        <p:spPr>
          <a:xfrm>
            <a:off x="822960" y="5989320"/>
            <a:ext cx="10515600" cy="365760"/>
          </a:xfrm>
          <a:prstGeom prst="rect">
            <a:avLst/>
          </a:prstGeom>
          <a:noFill/>
        </p:spPr>
        <p:txBody>
          <a:bodyPr wrap="square">
            <a:spAutoFit/>
          </a:bodyPr>
          <a:lstStyle/>
          <a:p>
            <a:pPr algn="l"/>
            <a:r>
              <a:rPr sz="1200" i="1">
                <a:solidFill>
                  <a:srgbClr val="63637E"/>
                </a:solidFill>
              </a:rPr>
              <a:t>All scores are published NDCG@10 on the same benchmark (CoIR and CodeXEmbed papers).</a:t>
            </a:r>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909917" y="266513"/>
            <a:ext cx="10515600" cy="1325563"/>
          </a:xfrm>
        </p:spPr>
        <p:txBody>
          <a:bodyPr/>
          <a:lstStyle/>
          <a:p>
            <a:r>
              <a:rPr lang="en-IN" b="1" dirty="0">
                <a:solidFill>
                  <a:srgbClr val="704EA6"/>
                </a:solidFill>
                <a:latin typeface="+mn-lt"/>
              </a:rPr>
              <a:t>Our Solutions &amp; Architecture Diagram</a:t>
            </a:r>
          </a:p>
        </p:txBody>
      </p:sp>
      <p:sp>
        <p:nvSpPr>
          <p:cNvPr id="3" name="Rounded Rectangle 2"/>
          <p:cNvSpPr/>
          <p:nvPr/>
        </p:nvSpPr>
        <p:spPr>
          <a:xfrm>
            <a:off x="566928" y="1783080"/>
            <a:ext cx="2423160" cy="1828800"/>
          </a:xfrm>
          <a:prstGeom prst="roundRect">
            <a:avLst>
              <a:gd name="adj" fmla="val 8000"/>
            </a:avLst>
          </a:prstGeom>
          <a:solidFill>
            <a:srgbClr val="EDE9FE"/>
          </a:solidFill>
          <a:ln w="1905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500">
                <a:solidFill>
                  <a:srgbClr val="14142B"/>
                </a:solidFill>
              </a:rPr>
              <a:t>Problem statement</a:t>
            </a:r>
          </a:p>
          <a:p>
            <a:pPr algn="ctr">
              <a:spcBef>
                <a:spcPts val="400"/>
              </a:spcBef>
            </a:pPr>
            <a:r>
              <a:rPr sz="1300">
                <a:solidFill>
                  <a:srgbClr val="14142B"/>
                </a:solidFill>
              </a:rPr>
              <a:t>English description with worked examples (Input → Output)</a:t>
            </a:r>
          </a:p>
        </p:txBody>
      </p:sp>
      <p:sp>
        <p:nvSpPr>
          <p:cNvPr id="4" name="Rounded Rectangle 3"/>
          <p:cNvSpPr/>
          <p:nvPr/>
        </p:nvSpPr>
        <p:spPr>
          <a:xfrm>
            <a:off x="3465576" y="1783080"/>
            <a:ext cx="2423160" cy="1828800"/>
          </a:xfrm>
          <a:prstGeom prst="roundRect">
            <a:avLst>
              <a:gd name="adj" fmla="val 8000"/>
            </a:avLst>
          </a:prstGeom>
          <a:solidFill>
            <a:srgbClr val="6D28D9"/>
          </a:solidFill>
          <a:ln w="1905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500">
                <a:solidFill>
                  <a:srgbClr val="FFFFFF"/>
                </a:solidFill>
              </a:rPr>
              <a:t>Stage 1 · Dense retrieval</a:t>
            </a:r>
          </a:p>
          <a:p>
            <a:pPr algn="ctr">
              <a:spcBef>
                <a:spcPts val="400"/>
              </a:spcBef>
            </a:pPr>
            <a:r>
              <a:rPr sz="1300">
                <a:solidFill>
                  <a:srgbClr val="FFFFFF"/>
                </a:solidFill>
              </a:rPr>
              <a:t>e5-base-v2 embeddings on CPU; cosine similarity over 8,765 programs → top 50</a:t>
            </a:r>
          </a:p>
        </p:txBody>
      </p:sp>
      <p:sp>
        <p:nvSpPr>
          <p:cNvPr id="5" name="Rounded Rectangle 4"/>
          <p:cNvSpPr/>
          <p:nvPr/>
        </p:nvSpPr>
        <p:spPr>
          <a:xfrm>
            <a:off x="6364224" y="1783080"/>
            <a:ext cx="2423160" cy="1828800"/>
          </a:xfrm>
          <a:prstGeom prst="roundRect">
            <a:avLst>
              <a:gd name="adj" fmla="val 8000"/>
            </a:avLst>
          </a:prstGeom>
          <a:solidFill>
            <a:srgbClr val="6D28D9"/>
          </a:solidFill>
          <a:ln w="1905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500">
                <a:solidFill>
                  <a:srgbClr val="FFFFFF"/>
                </a:solidFill>
              </a:rPr>
              <a:t>Stage 2 · Execution check</a:t>
            </a:r>
          </a:p>
          <a:p>
            <a:pPr algn="ctr">
              <a:spcBef>
                <a:spcPts val="400"/>
              </a:spcBef>
            </a:pPr>
            <a:r>
              <a:rPr sz="1300">
                <a:solidFill>
                  <a:srgbClr val="FFFFFF"/>
                </a:solidFill>
              </a:rPr>
              <a:t>Each candidate runs on the parsed examples in an isolated python -I subprocess, 3 s timeout</a:t>
            </a:r>
          </a:p>
        </p:txBody>
      </p:sp>
      <p:sp>
        <p:nvSpPr>
          <p:cNvPr id="6" name="Rounded Rectangle 5"/>
          <p:cNvSpPr/>
          <p:nvPr/>
        </p:nvSpPr>
        <p:spPr>
          <a:xfrm>
            <a:off x="9262872" y="1783080"/>
            <a:ext cx="2423160" cy="1828800"/>
          </a:xfrm>
          <a:prstGeom prst="roundRect">
            <a:avLst>
              <a:gd name="adj" fmla="val 8000"/>
            </a:avLst>
          </a:prstGeom>
          <a:solidFill>
            <a:srgbClr val="EDE9FE"/>
          </a:solidFill>
          <a:ln w="1905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500">
                <a:solidFill>
                  <a:srgbClr val="14142B"/>
                </a:solidFill>
              </a:rPr>
              <a:t>Rerank → results</a:t>
            </a:r>
          </a:p>
          <a:p>
            <a:pPr algn="ctr">
              <a:spcBef>
                <a:spcPts val="400"/>
              </a:spcBef>
            </a:pPr>
            <a:r>
              <a:rPr sz="1300">
                <a:solidFill>
                  <a:srgbClr val="14142B"/>
                </a:solidFill>
              </a:rPr>
              <a:t>Programs that reproduce every output move to the front; similarity order kept within groups</a:t>
            </a:r>
          </a:p>
        </p:txBody>
      </p:sp>
      <p:sp>
        <p:nvSpPr>
          <p:cNvPr id="7" name="Right Arrow 6"/>
          <p:cNvSpPr/>
          <p:nvPr/>
        </p:nvSpPr>
        <p:spPr>
          <a:xfrm>
            <a:off x="3063240" y="2514600"/>
            <a:ext cx="329184" cy="365760"/>
          </a:xfrm>
          <a:prstGeom prst="rightArrow">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Arrow 7"/>
          <p:cNvSpPr/>
          <p:nvPr/>
        </p:nvSpPr>
        <p:spPr>
          <a:xfrm>
            <a:off x="5961888" y="2514600"/>
            <a:ext cx="329184" cy="365760"/>
          </a:xfrm>
          <a:prstGeom prst="rightArrow">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ight Arrow 8"/>
          <p:cNvSpPr/>
          <p:nvPr/>
        </p:nvSpPr>
        <p:spPr>
          <a:xfrm>
            <a:off x="8860536" y="2514600"/>
            <a:ext cx="329184" cy="365760"/>
          </a:xfrm>
          <a:prstGeom prst="rightArrow">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65576" y="4160520"/>
            <a:ext cx="2423160" cy="1097280"/>
          </a:xfrm>
          <a:prstGeom prst="roundRect">
            <a:avLst>
              <a:gd name="adj" fmla="val 8000"/>
            </a:avLst>
          </a:prstGeom>
          <a:solidFill>
            <a:srgbClr val="FFFFFF"/>
          </a:solidFill>
          <a:ln w="19050">
            <a:solidFill>
              <a:srgbClr val="6363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400">
                <a:solidFill>
                  <a:srgbClr val="14142B"/>
                </a:solidFill>
              </a:rPr>
              <a:t>Embedding store</a:t>
            </a:r>
          </a:p>
          <a:p>
            <a:pPr algn="ctr">
              <a:spcBef>
                <a:spcPts val="400"/>
              </a:spcBef>
            </a:pPr>
            <a:r>
              <a:rPr sz="1200">
                <a:solidFill>
                  <a:srgbClr val="14142B"/>
                </a:solidFill>
              </a:rPr>
              <a:t>Content-addressed: a new code version re-embeds only changed snippets (P1)</a:t>
            </a:r>
          </a:p>
        </p:txBody>
      </p:sp>
      <p:sp>
        <p:nvSpPr>
          <p:cNvPr id="11" name="Rounded Rectangle 10"/>
          <p:cNvSpPr/>
          <p:nvPr/>
        </p:nvSpPr>
        <p:spPr>
          <a:xfrm>
            <a:off x="6364224" y="4160520"/>
            <a:ext cx="2423160" cy="1097280"/>
          </a:xfrm>
          <a:prstGeom prst="roundRect">
            <a:avLst>
              <a:gd name="adj" fmla="val 8000"/>
            </a:avLst>
          </a:prstGeom>
          <a:solidFill>
            <a:srgbClr val="FFFFFF"/>
          </a:solidFill>
          <a:ln w="19050">
            <a:solidFill>
              <a:srgbClr val="6363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400">
                <a:solidFill>
                  <a:srgbClr val="14142B"/>
                </a:solidFill>
              </a:rPr>
              <a:t>Execution cache</a:t>
            </a:r>
          </a:p>
          <a:p>
            <a:pPr algn="ctr">
              <a:spcBef>
                <a:spcPts val="400"/>
              </a:spcBef>
            </a:pPr>
            <a:r>
              <a:rPr sz="1200">
                <a:solidFill>
                  <a:srgbClr val="14142B"/>
                </a:solidFill>
              </a:rPr>
              <a:t>Keyed by program content + examples; append-only, resumable</a:t>
            </a:r>
          </a:p>
        </p:txBody>
      </p:sp>
      <p:sp>
        <p:nvSpPr>
          <p:cNvPr id="12" name="Up-Down Arrow 11"/>
          <p:cNvSpPr/>
          <p:nvPr/>
        </p:nvSpPr>
        <p:spPr>
          <a:xfrm>
            <a:off x="4539996" y="3685032"/>
            <a:ext cx="274320" cy="402335"/>
          </a:xfrm>
          <a:prstGeom prst="upDownArrow">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Up-Down Arrow 12"/>
          <p:cNvSpPr/>
          <p:nvPr/>
        </p:nvSpPr>
        <p:spPr>
          <a:xfrm>
            <a:off x="7438644" y="3685032"/>
            <a:ext cx="274320" cy="402335"/>
          </a:xfrm>
          <a:prstGeom prst="upDownArrow">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62872" y="4160520"/>
            <a:ext cx="2423160" cy="1097280"/>
          </a:xfrm>
          <a:prstGeom prst="rect">
            <a:avLst/>
          </a:prstGeom>
          <a:noFill/>
        </p:spPr>
        <p:txBody>
          <a:bodyPr wrap="square">
            <a:spAutoFit/>
          </a:bodyPr>
          <a:lstStyle/>
          <a:p>
            <a:pPr algn="l"/>
            <a:r>
              <a:rPr sz="1300" i="1">
                <a:solidFill>
                  <a:srgbClr val="63637E"/>
                </a:solidFill>
              </a:rPr>
              <a:t>Queries without worked examples (22%) keep the dense order.</a:t>
            </a:r>
          </a:p>
        </p:txBody>
      </p:sp>
      <p:sp>
        <p:nvSpPr>
          <p:cNvPr id="15" name="Rounded Rectangle 14"/>
          <p:cNvSpPr/>
          <p:nvPr/>
        </p:nvSpPr>
        <p:spPr>
          <a:xfrm>
            <a:off x="566928" y="5577840"/>
            <a:ext cx="11119104" cy="566928"/>
          </a:xfrm>
          <a:prstGeom prst="roundRect">
            <a:avLst>
              <a:gd name="adj" fmla="val 8000"/>
            </a:avLst>
          </a:prstGeom>
          <a:solidFill>
            <a:srgbClr val="EDE9FE"/>
          </a:solidFill>
          <a:ln w="1905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400">
                <a:solidFill>
                  <a:srgbClr val="14142B"/>
                </a:solidFill>
              </a:rPr>
              <a:t>Both stages run inside MTEB's SearchProtocol</a:t>
            </a:r>
          </a:p>
          <a:p>
            <a:pPr algn="ctr">
              <a:spcBef>
                <a:spcPts val="0"/>
              </a:spcBef>
            </a:pPr>
            <a:r>
              <a:rPr sz="1200">
                <a:solidFill>
                  <a:srgbClr val="14142B"/>
                </a:solidFill>
              </a:rPr>
              <a:t>one command produces the official results JSON</a:t>
            </a:r>
          </a:p>
        </p:txBody>
      </p: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IN" b="1" dirty="0">
                <a:solidFill>
                  <a:srgbClr val="704EA6"/>
                </a:solidFill>
                <a:latin typeface="+mn-lt"/>
              </a:rPr>
              <a:t>Demo &amp; Product Walkthrough</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a:xfrm>
            <a:off x="548640" y="1600200"/>
            <a:ext cx="4846320" cy="4480560"/>
          </a:xfrm>
        </p:spPr>
        <p:txBody>
          <a:bodyPr wrap="square"/>
          <a:lstStyle/>
          <a:p>
            <a:pPr>
              <a:spcAft>
                <a:spcPts val="500"/>
              </a:spcAft>
            </a:pPr>
            <a:r>
              <a:rPr b="1" sz="1600">
                <a:solidFill>
                  <a:srgbClr val="6D28D9"/>
                </a:solidFill>
              </a:rPr>
              <a:t>Run: </a:t>
            </a:r>
            <a:r>
              <a:rPr sz="1600">
                <a:solidFill>
                  <a:srgbClr val="14142B"/>
                </a:solidFill>
              </a:rPr>
              <a:t>python search.py --qid q5001 (or --file problem.txt, or a query string)</a:t>
            </a:r>
            <a:endParaRPr lang="en-IN"/>
          </a:p>
          <a:p>
            <a:pPr>
              <a:spcAft>
                <a:spcPts val="500"/>
              </a:spcAft>
            </a:pPr>
            <a:r>
              <a:rPr sz="1600">
                <a:solidFill>
                  <a:srgbClr val="14142B"/>
                </a:solidFill>
              </a:rPr>
              <a:t>The query has 2 worked examples: 50 candidates executed, 1 passes</a:t>
            </a:r>
          </a:p>
          <a:p>
            <a:pPr>
              <a:spcAft>
                <a:spcPts val="500"/>
              </a:spcAft>
            </a:pPr>
            <a:r>
              <a:rPr sz="1600">
                <a:solidFill>
                  <a:srgbClr val="14142B"/>
                </a:solidFill>
              </a:rPr>
              <a:t>The correct program sits at dense rank 42, well outside the top 10</a:t>
            </a:r>
          </a:p>
          <a:p>
            <a:pPr>
              <a:spcAft>
                <a:spcPts val="500"/>
              </a:spcAft>
            </a:pPr>
            <a:r>
              <a:rPr sz="1600">
                <a:solidFill>
                  <a:srgbClr val="14142B"/>
                </a:solidFill>
              </a:rPr>
              <a:t>Execution moves it to rank 1</a:t>
            </a:r>
          </a:p>
          <a:p>
            <a:pPr>
              <a:spcAft>
                <a:spcPts val="500"/>
              </a:spcAft>
            </a:pPr>
            <a:r>
              <a:rPr b="1" sz="1600">
                <a:solidFill>
                  <a:srgbClr val="6D28D9"/>
                </a:solidFill>
              </a:rPr>
              <a:t>Speed on CPU: </a:t>
            </a:r>
            <a:r>
              <a:rPr sz="1600">
                <a:solidFill>
                  <a:srgbClr val="14142B"/>
                </a:solidFill>
              </a:rPr>
              <a:t>query encode 261 ms · search 3.4 ms over 8,765 programs · 50 executions 922 ms</a:t>
            </a:r>
          </a:p>
          <a:p>
            <a:pPr>
              <a:spcAft>
                <a:spcPts val="500"/>
              </a:spcAft>
            </a:pPr>
            <a:r>
              <a:rPr b="1" sz="1600">
                <a:solidFill>
                  <a:srgbClr val="6D28D9"/>
                </a:solidFill>
              </a:rPr>
              <a:t>Demo video: </a:t>
            </a:r>
            <a:r>
              <a:rPr sz="1600">
                <a:solidFill>
                  <a:srgbClr val="14142B"/>
                </a:solidFill>
              </a:rPr>
              <a:t>[demo video link]</a:t>
            </a:r>
          </a:p>
        </p:txBody>
      </p:sp>
      <p:sp>
        <p:nvSpPr>
          <p:cNvPr id="4" name="Rectangle 3"/>
          <p:cNvSpPr/>
          <p:nvPr/>
        </p:nvSpPr>
        <p:spPr>
          <a:xfrm>
            <a:off x="5623560" y="1737360"/>
            <a:ext cx="6035040" cy="2743200"/>
          </a:xfrm>
          <a:prstGeom prst="rect">
            <a:avLst/>
          </a:prstGeom>
          <a:solidFill>
            <a:srgbClr val="141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760720" y="1828800"/>
            <a:ext cx="5806440" cy="2560320"/>
          </a:xfrm>
          <a:prstGeom prst="rect">
            <a:avLst/>
          </a:prstGeom>
          <a:noFill/>
        </p:spPr>
        <p:txBody>
          <a:bodyPr wrap="square">
            <a:spAutoFit/>
          </a:bodyPr>
          <a:lstStyle/>
          <a:p>
            <a:pPr algn="l"/>
            <a:r>
              <a:rPr sz="1200" i="0">
                <a:solidFill>
                  <a:srgbClr val="E4E4F0"/>
                </a:solidFill>
                <a:latin typeface="Consolas"/>
              </a:rPr>
              <a:t>rank  doc        sim  exec  first line</a:t>
            </a:r>
          </a:p>
          <a:p>
            <a:pPr algn="l"/>
            <a:r>
              <a:rPr sz="1200" i="0">
                <a:solidFill>
                  <a:srgbClr val="E4E4F0"/>
                </a:solidFill>
                <a:latin typeface="Consolas"/>
              </a:rPr>
              <a:t>   1  d5001    0.783  PASS  s = input()  &lt;-- gold</a:t>
            </a:r>
          </a:p>
          <a:p>
            <a:pPr algn="l"/>
            <a:r>
              <a:rPr sz="1200" i="0">
                <a:solidFill>
                  <a:srgbClr val="E4E4F0"/>
                </a:solidFill>
                <a:latin typeface="Consolas"/>
              </a:rPr>
              <a:t>   2  d5774    0.802  fail  #~ # MAGIC CODEFORCES PYTHON FAST IO</a:t>
            </a:r>
          </a:p>
          <a:p>
            <a:pPr algn="l"/>
            <a:r>
              <a:rPr sz="1200" i="0">
                <a:solidFill>
                  <a:srgbClr val="E4E4F0"/>
                </a:solidFill>
                <a:latin typeface="Consolas"/>
              </a:rPr>
              <a:t>   3  d6561    0.794  fail  #!/usr/bin/env python3</a:t>
            </a:r>
          </a:p>
          <a:p>
            <a:pPr algn="l"/>
            <a:r>
              <a:rPr sz="1200" i="0">
                <a:solidFill>
                  <a:srgbClr val="E4E4F0"/>
                </a:solidFill>
                <a:latin typeface="Consolas"/>
              </a:rPr>
              <a:t>   4  d7432    0.793  fail  import sys</a:t>
            </a:r>
          </a:p>
          <a:p>
            <a:pPr algn="l"/>
            <a:r>
              <a:rPr sz="1200" i="0">
                <a:solidFill>
                  <a:srgbClr val="E4E4F0"/>
                </a:solidFill>
                <a:latin typeface="Consolas"/>
              </a:rPr>
              <a:t>   5  d1301    0.793  fail  from sys import stdin,stdout</a:t>
            </a:r>
          </a:p>
          <a:p>
            <a:pPr algn="l"/>
            <a:r>
              <a:rPr sz="1200" i="0">
                <a:solidFill>
                  <a:srgbClr val="E4E4F0"/>
                </a:solidFill>
                <a:latin typeface="Consolas"/>
              </a:rPr>
              <a:t>  ...</a:t>
            </a:r>
          </a:p>
          <a:p>
            <a:pPr algn="l"/>
            <a:r>
              <a:rPr sz="1200" i="0">
                <a:solidFill>
                  <a:srgbClr val="E4E4F0"/>
                </a:solidFill>
                <a:latin typeface="Consolas"/>
              </a:rPr>
              <a:t>gold d5001: dense rank 42 -&gt; final rank 1</a:t>
            </a:r>
          </a:p>
          <a:p>
            <a:pPr algn="l"/>
            <a:r>
              <a:rPr sz="1200" i="0">
                <a:solidFill>
                  <a:srgbClr val="E4E4F0"/>
                </a:solidFill>
                <a:latin typeface="Consolas"/>
              </a:rPr>
              <a:t/>
            </a:r>
          </a:p>
          <a:p>
            <a:pPr algn="l"/>
            <a:r>
              <a:rPr sz="1200" i="0">
                <a:solidFill>
                  <a:srgbClr val="E4E4F0"/>
                </a:solidFill>
                <a:latin typeface="Consolas"/>
              </a:rPr>
              <a:t>timings: model+index load 1.2s | query encode 261 ms |</a:t>
            </a:r>
          </a:p>
          <a:p>
            <a:pPr algn="l"/>
            <a:r>
              <a:rPr sz="1200" i="0">
                <a:solidFill>
                  <a:srgbClr val="E4E4F0"/>
                </a:solidFill>
                <a:latin typeface="Consolas"/>
              </a:rPr>
              <a:t>search 3.4 ms over 8,765 docs | execution 922 ms</a:t>
            </a:r>
          </a:p>
        </p:txBody>
      </p:sp>
      <p:sp>
        <p:nvSpPr>
          <p:cNvPr id="6" name="TextBox 5"/>
          <p:cNvSpPr txBox="1"/>
          <p:nvPr/>
        </p:nvSpPr>
        <p:spPr>
          <a:xfrm>
            <a:off x="5623560" y="4526280"/>
            <a:ext cx="6035040" cy="365760"/>
          </a:xfrm>
          <a:prstGeom prst="rect">
            <a:avLst/>
          </a:prstGeom>
          <a:noFill/>
        </p:spPr>
        <p:txBody>
          <a:bodyPr wrap="square">
            <a:spAutoFit/>
          </a:bodyPr>
          <a:lstStyle/>
          <a:p>
            <a:pPr algn="l"/>
            <a:r>
              <a:rPr sz="1100" i="1">
                <a:solidFill>
                  <a:srgbClr val="63637E"/>
                </a:solidFill>
              </a:rPr>
              <a:t>Actual output of python search.py --qid q5001 (e5-base-v2, top 50; ranks 6-10 omitted)</a:t>
            </a:r>
          </a:p>
        </p:txBody>
      </p:sp>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Tools and tech stack used</a:t>
            </a:r>
            <a:endParaRPr lang="en-IN"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lstStyle/>
          <a:p>
            <a:pPr>
              <a:spcAft>
                <a:spcPts val="500"/>
              </a:spcAft>
            </a:pPr>
            <a:r>
              <a:rPr b="1" sz="1900">
                <a:solidFill>
                  <a:srgbClr val="6D28D9"/>
                </a:solidFill>
              </a:rPr>
              <a:t>Language: </a:t>
            </a:r>
            <a:r>
              <a:rPr sz="1900">
                <a:solidFill>
                  <a:srgbClr val="14142B"/>
                </a:solidFill>
              </a:rPr>
              <a:t>Python 3.11</a:t>
            </a:r>
            <a:endParaRPr lang="en-IN" dirty="0"/>
          </a:p>
          <a:p>
            <a:pPr>
              <a:spcAft>
                <a:spcPts val="500"/>
              </a:spcAft>
            </a:pPr>
            <a:r>
              <a:rPr b="1" sz="1900">
                <a:solidFill>
                  <a:srgbClr val="6D28D9"/>
                </a:solidFill>
              </a:rPr>
              <a:t>Models: </a:t>
            </a:r>
            <a:r>
              <a:rPr sz="1900">
                <a:solidFill>
                  <a:srgbClr val="14142B"/>
                </a:solidFill>
              </a:rPr>
              <a:t>intfloat/e5-base-v2 (submitted, MIT) · Salesforce/SFR-Embedding-Code-400M_R (integrated, optional, CC-BY-NC-4.0)</a:t>
            </a:r>
          </a:p>
          <a:p>
            <a:pPr>
              <a:spcAft>
                <a:spcPts val="500"/>
              </a:spcAft>
            </a:pPr>
            <a:r>
              <a:rPr b="1" sz="1900">
                <a:solidFill>
                  <a:srgbClr val="6D28D9"/>
                </a:solidFill>
              </a:rPr>
              <a:t>ML stack: </a:t>
            </a:r>
            <a:r>
              <a:rPr sz="1900">
                <a:solidFill>
                  <a:srgbClr val="14142B"/>
                </a:solidFill>
              </a:rPr>
              <a:t>PyTorch 2.14 (CPU build) · sentence-transformers 6.1 · transformers 5.17 · NumPy</a:t>
            </a:r>
          </a:p>
          <a:p>
            <a:pPr>
              <a:spcAft>
                <a:spcPts val="500"/>
              </a:spcAft>
            </a:pPr>
            <a:r>
              <a:rPr b="1" sz="1900">
                <a:solidFill>
                  <a:srgbClr val="6D28D9"/>
                </a:solidFill>
              </a:rPr>
              <a:t>Benchmark: </a:t>
            </a:r>
            <a:r>
              <a:rPr sz="1900">
                <a:solidFill>
                  <a:srgbClr val="14142B"/>
                </a:solidFill>
              </a:rPr>
              <a:t>MTEB 2.21.8 · Hugging Face datasets · CoIR AppsRetrieval</a:t>
            </a:r>
          </a:p>
          <a:p>
            <a:pPr>
              <a:spcAft>
                <a:spcPts val="500"/>
              </a:spcAft>
            </a:pPr>
            <a:r>
              <a:rPr b="1" sz="1900">
                <a:solidFill>
                  <a:srgbClr val="6D28D9"/>
                </a:solidFill>
              </a:rPr>
              <a:t>Execution sandbox: </a:t>
            </a:r>
            <a:r>
              <a:rPr sz="1900">
                <a:solidFill>
                  <a:srgbClr val="14142B"/>
                </a:solidFill>
              </a:rPr>
              <a:t>Python subprocess in isolated mode (-I), throwaway temp directory, stripped environment, hard timeout, 24 parallel workers</a:t>
            </a:r>
          </a:p>
          <a:p>
            <a:pPr>
              <a:spcAft>
                <a:spcPts val="500"/>
              </a:spcAft>
            </a:pPr>
            <a:r>
              <a:rPr b="1" sz="1900">
                <a:solidFill>
                  <a:srgbClr val="6D28D9"/>
                </a:solidFill>
              </a:rPr>
              <a:t>Packaging: </a:t>
            </a:r>
            <a:r>
              <a:rPr sz="1900">
                <a:solidFill>
                  <a:srgbClr val="14142B"/>
                </a:solidFill>
              </a:rPr>
              <a:t>pinned requirements.txt · Dockerfile · MIT licence</a:t>
            </a:r>
          </a:p>
          <a:p>
            <a:pPr>
              <a:spcAft>
                <a:spcPts val="500"/>
              </a:spcAft>
            </a:pPr>
            <a:r>
              <a:rPr b="1" sz="1900">
                <a:solidFill>
                  <a:srgbClr val="6D28D9"/>
                </a:solidFill>
              </a:rPr>
              <a:t>Development: </a:t>
            </a:r>
            <a:r>
              <a:rPr sz="1900">
                <a:solidFill>
                  <a:srgbClr val="14142B"/>
                </a:solidFill>
              </a:rPr>
              <a:t>built with Claude Code (AI coding assistant); see AI_DISCLOSURE.md</a:t>
            </a:r>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Impact &amp; Use case</a:t>
            </a:r>
            <a:endParaRPr lang="en-IN"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lstStyle/>
          <a:p>
            <a:pPr>
              <a:spcAft>
                <a:spcPts val="500"/>
              </a:spcAft>
            </a:pPr>
            <a:r>
              <a:rPr b="1" sz="2000">
                <a:solidFill>
                  <a:srgbClr val="6D28D9"/>
                </a:solidFill>
              </a:rPr>
              <a:t>Code search that returns code that works: </a:t>
            </a:r>
            <a:r>
              <a:rPr sz="2000">
                <a:solidFill>
                  <a:srgbClr val="14142B"/>
                </a:solidFill>
              </a:rPr>
              <a:t>developers and coding agents get candidates that already pass the examples they care about, not just similar-looking code</a:t>
            </a:r>
            <a:endParaRPr lang="en-IN" dirty="0"/>
          </a:p>
          <a:p>
            <a:pPr>
              <a:spcAft>
                <a:spcPts val="500"/>
              </a:spcAft>
            </a:pPr>
            <a:r>
              <a:rPr b="1" sz="2000">
                <a:solidFill>
                  <a:srgbClr val="6D28D9"/>
                </a:solidFill>
              </a:rPr>
              <a:t>Verification for agentic tools: </a:t>
            </a:r>
            <a:r>
              <a:rPr sz="2000">
                <a:solidFill>
                  <a:srgbClr val="14142B"/>
                </a:solidFill>
              </a:rPr>
              <a:t>an agent can retrieve, execute and keep only candidates that pass, before generating anything new</a:t>
            </a:r>
          </a:p>
          <a:p>
            <a:pPr>
              <a:spcAft>
                <a:spcPts val="500"/>
              </a:spcAft>
            </a:pPr>
            <a:r>
              <a:rPr b="1" sz="2000">
                <a:solidFill>
                  <a:srgbClr val="6D28D9"/>
                </a:solidFill>
              </a:rPr>
              <a:t>Runs where the code lives: </a:t>
            </a:r>
            <a:r>
              <a:rPr sz="2000">
                <a:solidFill>
                  <a:srgbClr val="14142B"/>
                </a:solidFill>
              </a:rPr>
              <a:t>CPU only. The whole pipeline runs on a laptop or on-premises, and no source code leaves the machine.</a:t>
            </a:r>
          </a:p>
          <a:p>
            <a:pPr>
              <a:spcAft>
                <a:spcPts val="500"/>
              </a:spcAft>
            </a:pPr>
            <a:r>
              <a:rPr b="1" sz="2000">
                <a:solidFill>
                  <a:srgbClr val="6D28D9"/>
                </a:solidFill>
              </a:rPr>
              <a:t>Evolving codebases (P1): </a:t>
            </a:r>
            <a:r>
              <a:rPr sz="2000">
                <a:solidFill>
                  <a:srgbClr val="14142B"/>
                </a:solidFill>
              </a:rPr>
              <a:t>content-addressed indexes re-embed only snippets that changed, and a stale pass/fail is never served for edited code</a:t>
            </a:r>
          </a:p>
          <a:p>
            <a:pPr>
              <a:spcAft>
                <a:spcPts val="500"/>
              </a:spcAft>
            </a:pPr>
            <a:r>
              <a:rPr b="1" sz="2000">
                <a:solidFill>
                  <a:srgbClr val="6D28D9"/>
                </a:solidFill>
              </a:rPr>
              <a:t>Cheap to adopt: </a:t>
            </a:r>
            <a:r>
              <a:rPr sz="2000">
                <a:solidFill>
                  <a:srgbClr val="14142B"/>
                </a:solidFill>
              </a:rPr>
              <a:t>the execution stage has no model to train and stacks on top of any embedder</a:t>
            </a:r>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Innovation highlights, results and limitations</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a:xfrm>
            <a:off x="6492240" y="1600200"/>
            <a:ext cx="5303520" cy="4572000"/>
          </a:xfrm>
        </p:spPr>
        <p:txBody>
          <a:bodyPr wrap="square"/>
          <a:lstStyle/>
          <a:p>
            <a:pPr>
              <a:spcAft>
                <a:spcPts val="500"/>
              </a:spcAft>
            </a:pPr>
            <a:r>
              <a:rPr b="1" sz="1500">
                <a:solidFill>
                  <a:srgbClr val="6D28D9"/>
                </a:solidFill>
              </a:rPr>
              <a:t>Result: </a:t>
            </a:r>
            <a:r>
              <a:rPr sz="1500">
                <a:solidFill>
                  <a:srgbClr val="14142B"/>
                </a:solidFill>
              </a:rPr>
              <a:t>NDCG@10 11.52 → 20.71 (+79.8% relative); MRR@10 9.88 → 19.96 on the full test split</a:t>
            </a:r>
            <a:endParaRPr lang="en-IN" dirty="0"/>
          </a:p>
          <a:p>
            <a:pPr>
              <a:spcAft>
                <a:spcPts val="500"/>
              </a:spcAft>
            </a:pPr>
            <a:r>
              <a:rPr sz="1500">
                <a:solidFill>
                  <a:srgbClr val="14142B"/>
                </a:solidFill>
              </a:rPr>
              <a:t>Level with E5-Mistral-7B using a model ~65× smaller, on CPU</a:t>
            </a:r>
          </a:p>
          <a:p>
            <a:pPr>
              <a:spcAft>
                <a:spcPts val="500"/>
              </a:spcAft>
            </a:pPr>
            <a:r>
              <a:rPr b="1" sz="1500">
                <a:solidFill>
                  <a:srgbClr val="6D28D9"/>
                </a:solidFill>
              </a:rPr>
              <a:t>Verified: </a:t>
            </a:r>
            <a:r>
              <a:rPr sz="1500">
                <a:solidFill>
                  <a:srgbClr val="14142B"/>
                </a:solidFill>
              </a:rPr>
              <a:t>official MTEB JSON, plus independent rescoring of all 3,765 predictions</a:t>
            </a:r>
          </a:p>
          <a:p>
            <a:pPr>
              <a:spcAft>
                <a:spcPts val="500"/>
              </a:spcAft>
            </a:pPr>
            <a:r>
              <a:rPr b="1" sz="1500">
                <a:solidFill>
                  <a:srgbClr val="6D28D9"/>
                </a:solidFill>
              </a:rPr>
              <a:t>Limitations: </a:t>
            </a:r>
            <a:r>
              <a:rPr sz="1500">
                <a:solidFill>
                  <a:srgbClr val="14142B"/>
                </a:solidFill>
              </a:rPr>
              <a:t>execution only rescues a correct program found in the top 50 (28% of queries)</a:t>
            </a:r>
          </a:p>
          <a:p>
            <a:pPr lvl="1">
              <a:spcAft>
                <a:spcPts val="500"/>
              </a:spcAft>
            </a:pPr>
            <a:r>
              <a:rPr sz="1300">
                <a:solidFill>
                  <a:srgbClr val="14142B"/>
                </a:solidFill>
              </a:rPr>
              <a:t>22% of queries have no parseable examples and keep the dense order</a:t>
            </a:r>
          </a:p>
          <a:p>
            <a:pPr lvl="1">
              <a:spcAft>
                <a:spcPts val="500"/>
              </a:spcAft>
            </a:pPr>
            <a:r>
              <a:rPr sz="1300">
                <a:solidFill>
                  <a:srgbClr val="14142B"/>
                </a:solidFill>
              </a:rPr>
              <a:t>Passing the examples is evidence, not proof of correctness on all inputs</a:t>
            </a:r>
          </a:p>
          <a:p>
            <a:pPr lvl="1">
              <a:spcAft>
                <a:spcPts val="500"/>
              </a:spcAft>
            </a:pPr>
            <a:r>
              <a:rPr sz="1300">
                <a:solidFill>
                  <a:srgbClr val="14142B"/>
                </a:solidFill>
              </a:rPr>
              <a:t>Windows sandbox has no memory or network limits; use Docker with --network none</a:t>
            </a:r>
          </a:p>
          <a:p>
            <a:pPr lvl="1">
              <a:spcAft>
                <a:spcPts val="500"/>
              </a:spcAft>
            </a:pPr>
            <a:r>
              <a:rPr sz="1300">
                <a:solidFill>
                  <a:srgbClr val="14142B"/>
                </a:solidFill>
              </a:rPr>
              <a:t>CodeXEmbed full run not finished, so no score is claimed for it</a:t>
            </a:r>
          </a:p>
        </p:txBody>
      </p:sp>
      <p:graphicFrame>
        <p:nvGraphicFramePr>
          <p:cNvPr id="4" name="Chart 3"/>
          <p:cNvGraphicFramePr>
            <a:graphicFrameLocks noGrp="1"/>
          </p:cNvGraphicFramePr>
          <p:nvPr/>
        </p:nvGraphicFramePr>
        <p:xfrm>
          <a:off x="457200" y="1600200"/>
          <a:ext cx="5852160" cy="3840480"/>
        </p:xfrm>
        <a:graphic>
          <a:graphicData uri="http://schemas.openxmlformats.org/drawingml/2006/chart">
            <c:chart xmlns:c="http://schemas.openxmlformats.org/drawingml/2006/chart" r:id="rId2"/>
          </a:graphicData>
        </a:graphic>
      </p:graphicFrame>
      <p:sp>
        <p:nvSpPr>
          <p:cNvPr id="5" name="TextBox 4"/>
          <p:cNvSpPr txBox="1"/>
          <p:nvPr/>
        </p:nvSpPr>
        <p:spPr>
          <a:xfrm>
            <a:off x="457200" y="5486400"/>
            <a:ext cx="5852160" cy="640080"/>
          </a:xfrm>
          <a:prstGeom prst="rect">
            <a:avLst/>
          </a:prstGeom>
          <a:noFill/>
        </p:spPr>
        <p:txBody>
          <a:bodyPr wrap="square">
            <a:spAutoFit/>
          </a:bodyPr>
          <a:lstStyle/>
          <a:p>
            <a:pPr algn="l"/>
            <a:r>
              <a:rPr sz="1050" i="1">
                <a:solidFill>
                  <a:srgbClr val="63637E"/>
                </a:solidFill>
              </a:rPr>
              <a:t>Other rows: published. Code-retrieval embedders score higher (CodeXEmbed-400M 48.57, published); execution reranking can sit on top of any encoder.</a:t>
            </a:r>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What’s next</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lstStyle/>
          <a:p>
            <a:pPr>
              <a:spcAft>
                <a:spcPts val="500"/>
              </a:spcAft>
            </a:pPr>
            <a:r>
              <a:rPr b="1" sz="2000">
                <a:solidFill>
                  <a:srgbClr val="6D28D9"/>
                </a:solidFill>
              </a:rPr>
              <a:t>Stronger stage 1: </a:t>
            </a:r>
            <a:r>
              <a:rPr sz="2000">
                <a:solidFill>
                  <a:srgbClr val="14142B"/>
                </a:solidFill>
              </a:rPr>
              <a:t>finish CodeXEmbed-400M on CPU (48.57 dense, published, vs 11.52), giving execution a far better pool to rerank</a:t>
            </a:r>
            <a:endParaRPr lang="en-IN" dirty="0"/>
          </a:p>
          <a:p>
            <a:pPr>
              <a:spcAft>
                <a:spcPts val="500"/>
              </a:spcAft>
            </a:pPr>
            <a:r>
              <a:rPr b="1" sz="2000">
                <a:solidFill>
                  <a:srgbClr val="6D28D9"/>
                </a:solidFill>
              </a:rPr>
              <a:t>Deeper execution: </a:t>
            </a:r>
            <a:r>
              <a:rPr sz="2000">
                <a:solidFill>
                  <a:srgbClr val="14142B"/>
                </a:solidFill>
              </a:rPr>
              <a:t>recall of the correct program rises from 28% at top 50 to 56% at top 500; needs ~1.5M fast, parallel runs</a:t>
            </a:r>
          </a:p>
          <a:p>
            <a:pPr>
              <a:spcAft>
                <a:spcPts val="500"/>
              </a:spcAft>
            </a:pPr>
            <a:r>
              <a:rPr b="1" sz="2000">
                <a:solidFill>
                  <a:srgbClr val="6D28D9"/>
                </a:solidFill>
              </a:rPr>
              <a:t>Tests where none exist: </a:t>
            </a:r>
            <a:r>
              <a:rPr sz="2000">
                <a:solidFill>
                  <a:srgbClr val="14142B"/>
                </a:solidFill>
              </a:rPr>
              <a:t>for the 22% of queries without examples, generate inputs and rank candidates by agreement (differential testing)</a:t>
            </a:r>
          </a:p>
          <a:p>
            <a:pPr>
              <a:spcAft>
                <a:spcPts val="500"/>
              </a:spcAft>
            </a:pPr>
            <a:r>
              <a:rPr b="1" sz="2000">
                <a:solidFill>
                  <a:srgbClr val="6D28D9"/>
                </a:solidFill>
              </a:rPr>
              <a:t>Harder sandbox: </a:t>
            </a:r>
            <a:r>
              <a:rPr sz="2000">
                <a:solidFill>
                  <a:srgbClr val="14142B"/>
                </a:solidFill>
              </a:rPr>
              <a:t>containers with --network none and memory caps as the default execution path</a:t>
            </a:r>
          </a:p>
          <a:p>
            <a:pPr>
              <a:spcAft>
                <a:spcPts val="500"/>
              </a:spcAft>
            </a:pPr>
            <a:r>
              <a:rPr b="1" sz="2000">
                <a:solidFill>
                  <a:srgbClr val="6D28D9"/>
                </a:solidFill>
              </a:rPr>
              <a:t>P1, measured: </a:t>
            </a:r>
            <a:r>
              <a:rPr sz="2000">
                <a:solidFill>
                  <a:srgbClr val="14142B"/>
                </a:solidFill>
              </a:rPr>
              <a:t>re-index an edited corpus version and report what was re-embedded and what changed in the ranking</a:t>
            </a:r>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Brownie points slide( differentiation)</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lstStyle/>
          <a:p>
            <a:pPr>
              <a:spcAft>
                <a:spcPts val="500"/>
              </a:spcAft>
            </a:pPr>
            <a:r>
              <a:rPr b="1" sz="1700">
                <a:solidFill>
                  <a:srgbClr val="6D28D9"/>
                </a:solidFill>
              </a:rPr>
              <a:t>Relevance is checked, not estimated: </a:t>
            </a:r>
            <a:r>
              <a:rPr sz="1700">
                <a:solidFill>
                  <a:srgbClr val="14142B"/>
                </a:solidFill>
              </a:rPr>
              <a:t>our largest gain comes from running code, with no extra neural model</a:t>
            </a:r>
            <a:endParaRPr lang="en-IN" dirty="0"/>
          </a:p>
          <a:p>
            <a:pPr>
              <a:spcAft>
                <a:spcPts val="500"/>
              </a:spcAft>
            </a:pPr>
            <a:r>
              <a:rPr b="1" sz="1700">
                <a:solidFill>
                  <a:srgbClr val="6D28D9"/>
                </a:solidFill>
              </a:rPr>
              <a:t>Honest numbers: </a:t>
            </a:r>
            <a:r>
              <a:rPr sz="1700">
                <a:solidFill>
                  <a:srgbClr val="14142B"/>
                </a:solidFill>
              </a:rPr>
              <a:t>an early 30.74 from a 150-query sample was dropped; only the full-split 20.71 is claimed</a:t>
            </a:r>
          </a:p>
          <a:p>
            <a:pPr>
              <a:spcAft>
                <a:spcPts val="500"/>
              </a:spcAft>
            </a:pPr>
            <a:r>
              <a:rPr b="1" sz="1700">
                <a:solidFill>
                  <a:srgbClr val="6D28D9"/>
                </a:solidFill>
              </a:rPr>
              <a:t>Reproducible: </a:t>
            </a:r>
            <a:r>
              <a:rPr sz="1700">
                <a:solidFill>
                  <a:srgbClr val="14142B"/>
                </a:solidFill>
              </a:rPr>
              <a:t>one command writes the official MTEB JSON; analyze.py recomputes every score offline in seconds</a:t>
            </a:r>
          </a:p>
          <a:p>
            <a:pPr>
              <a:spcAft>
                <a:spcPts val="500"/>
              </a:spcAft>
            </a:pPr>
            <a:r>
              <a:rPr b="1" sz="1700">
                <a:solidFill>
                  <a:srgbClr val="6D28D9"/>
                </a:solidFill>
              </a:rPr>
              <a:t>Engineering for current libraries: </a:t>
            </a:r>
            <a:r>
              <a:rPr sz="1700">
                <a:solidFill>
                  <a:srgbClr val="14142B"/>
                </a:solidFill>
              </a:rPr>
              <a:t>Windows DLL import order, MTEB JSON export, CodeXEmbed on transformers 5, fp32 over emulated bf16 on CPU (7.5× faster)</a:t>
            </a:r>
          </a:p>
          <a:p>
            <a:pPr>
              <a:spcAft>
                <a:spcPts val="500"/>
              </a:spcAft>
            </a:pPr>
            <a:r>
              <a:rPr b="1" sz="1700">
                <a:solidFill>
                  <a:srgbClr val="6D28D9"/>
                </a:solidFill>
              </a:rPr>
              <a:t>Resumable at scale: </a:t>
            </a:r>
            <a:r>
              <a:rPr sz="1700">
                <a:solidFill>
                  <a:srgbClr val="14142B"/>
                </a:solidFill>
              </a:rPr>
              <a:t>146,800 program executions cached by content; an interrupted run resumes where it stopped</a:t>
            </a:r>
          </a:p>
          <a:p>
            <a:pPr>
              <a:spcAft>
                <a:spcPts val="500"/>
              </a:spcAft>
            </a:pPr>
            <a:r>
              <a:rPr b="1" sz="1700">
                <a:solidFill>
                  <a:srgbClr val="6D28D9"/>
                </a:solidFill>
              </a:rPr>
              <a:t>Prior art acknowledged: </a:t>
            </a:r>
            <a:r>
              <a:rPr sz="1700">
                <a:solidFill>
                  <a:srgbClr val="14142B"/>
                </a:solidFill>
              </a:rPr>
              <a:t>ExecRetrieval (arXiv 2609.01865) studies execution reranking on APPS. Our contribution is the CPU-only pipeline, scored end to end in MTEB, with versioned indexes.</a:t>
            </a:r>
          </a:p>
        </p:txBody>
      </p:sp>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lstStyle/>
          <a:p>
            <a:r>
              <a:rPr lang="en-IN" b="1" dirty="0">
                <a:solidFill>
                  <a:srgbClr val="704EA6"/>
                </a:solidFill>
                <a:latin typeface="+mn-lt"/>
              </a:rPr>
              <a:t>Checklist- Updated on Public GitHub</a:t>
            </a:r>
          </a:p>
        </p:txBody>
      </p:sp>
      <p:sp>
        <p:nvSpPr>
          <p:cNvPr id="3" name="Content Placeholder 2">
            <a:extLst>
              <a:ext uri="{FF2B5EF4-FFF2-40B4-BE49-F238E27FC236}">
                <a16:creationId xmlns:a16="http://schemas.microsoft.com/office/drawing/2014/main" id="{DAB3E6F6-9D00-4480-90E6-EC3C876F2628}"/>
              </a:ext>
            </a:extLst>
          </p:cNvPr>
          <p:cNvSpPr>
            <a:spLocks noGrp="1"/>
          </p:cNvSpPr>
          <p:nvPr>
            <p:ph idx="1"/>
          </p:nvPr>
        </p:nvSpPr>
        <p:spPr/>
        <p:txBody>
          <a:bodyPr wrap="square"/>
          <a:lstStyle/>
          <a:p>
            <a:pPr marL="177800" indent="-177800">
              <a:spcAft>
                <a:spcPts val="500"/>
              </a:spcAft>
              <a:buSzPct val="100000"/>
              <a:buChar char="•"/>
            </a:pPr>
            <a:r>
              <a:rPr b="1" sz="2200">
                <a:solidFill>
                  <a:srgbClr val="6D28D9"/>
                </a:solidFill>
              </a:rPr>
              <a:t>Working prototype code, public GitHub repo (Y): </a:t>
            </a:r>
            <a:r>
              <a:rPr sz="2200">
                <a:solidFill>
                  <a:srgbClr val="14142B"/>
                </a:solidFill>
              </a:rPr>
              <a:t>https://github.com/Chiranjib-x/prism-genai-code-retrieval</a:t>
            </a:r>
            <a:endParaRPr lang="en-US" sz="2800" dirty="0"/>
          </a:p>
          <a:p>
            <a:pPr>
              <a:spcAft>
                <a:spcPts val="500"/>
              </a:spcAft>
            </a:pPr>
            <a:r>
              <a:rPr sz="2200">
                <a:solidFill>
                  <a:srgbClr val="14142B"/>
                </a:solidFill>
              </a:rPr>
              <a:t>README with reproducible setup instructions (Y)</a:t>
            </a:r>
          </a:p>
          <a:p>
            <a:pPr>
              <a:spcAft>
                <a:spcPts val="500"/>
              </a:spcAft>
            </a:pPr>
            <a:r>
              <a:rPr b="1" sz="2200">
                <a:solidFill>
                  <a:srgbClr val="6D28D9"/>
                </a:solidFill>
              </a:rPr>
              <a:t>Demo video, max 5 minutes: </a:t>
            </a:r>
            <a:r>
              <a:rPr sz="2200">
                <a:solidFill>
                  <a:srgbClr val="14142B"/>
                </a:solidFill>
              </a:rPr>
              <a:t>[demo video link]</a:t>
            </a:r>
          </a:p>
          <a:p>
            <a:pPr>
              <a:spcAft>
                <a:spcPts val="500"/>
              </a:spcAft>
            </a:pPr>
            <a:r>
              <a:rPr sz="2200">
                <a:solidFill>
                  <a:srgbClr val="14142B"/>
                </a:solidFill>
              </a:rPr>
              <a:t>Presentation file, PPT and PDF (Y)</a:t>
            </a:r>
          </a:p>
          <a:p>
            <a:pPr>
              <a:spcAft>
                <a:spcPts val="500"/>
              </a:spcAft>
            </a:pPr>
            <a:r>
              <a:rPr b="1" sz="2200">
                <a:solidFill>
                  <a:srgbClr val="6D28D9"/>
                </a:solidFill>
              </a:rPr>
              <a:t>AI disclosure (Y): </a:t>
            </a:r>
            <a:r>
              <a:rPr sz="2200">
                <a:solidFill>
                  <a:srgbClr val="14142B"/>
                </a:solidFill>
              </a:rPr>
              <a:t>AI_DISCLOSURE.md in the repo</a:t>
            </a:r>
          </a:p>
          <a:p>
            <a:pPr>
              <a:spcAft>
                <a:spcPts val="500"/>
              </a:spcAft>
            </a:pPr>
            <a:r>
              <a:rPr b="1" sz="2200">
                <a:solidFill>
                  <a:srgbClr val="6D28D9"/>
                </a:solidFill>
              </a:rPr>
              <a:t>Release tag (Y): </a:t>
            </a:r>
            <a:r>
              <a:rPr sz="2200">
                <a:solidFill>
                  <a:srgbClr val="14142B"/>
                </a:solidFill>
              </a:rPr>
              <a:t>PRISM_GENAI_HACKATHON_Y2026, with the MTEB results JSON</a:t>
            </a:r>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65</TotalTime>
  <Words>266</Words>
  <Application>Microsoft Office PowerPoint</Application>
  <PresentationFormat>Widescreen</PresentationFormat>
  <Paragraphs>32</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Binny Lakra/PRISM /SRI-Bangalore/Professional/Samsung Electronics</cp:lastModifiedBy>
  <cp:revision>6</cp:revision>
  <dcterms:created xsi:type="dcterms:W3CDTF">2026-09-07T12:01:01Z</dcterms:created>
  <dcterms:modified xsi:type="dcterms:W3CDTF">2026-09-08T10:03:30Z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