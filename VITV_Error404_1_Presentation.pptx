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7" r:id="rId2"/>
    <p:sldId id="258" r:id="rId3"/>
    <p:sldId id="259" r:id="rId4"/>
    <p:sldId id="260" r:id="rId5"/>
    <p:sldId id="261" r:id="rId6"/>
    <p:sldId id="262" r:id="rId7"/>
    <p:sldId id="263" r:id="rId8"/>
    <p:sldId id="264" r:id="rId9"/>
    <p:sldId id="265" r:id="rId10"/>
    <p:sldId id="266" r:id="rId11"/>
    <p:sldId id="271" r:id="rId12"/>
    <p:sldId id="27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04EA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5" d="100"/>
          <a:sy n="85" d="100"/>
        </p:scale>
        <p:origin x="590"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a:solidFill>
                  <a:srgbClr val="14142B"/>
                </a:solidFill>
              </a:rPr>
              <a:t>NDCG@10, AppsRetrieval test split (3,765 queries)</a:t>
            </a:r>
          </a:p>
        </c:rich>
      </c:tx>
      <c:layout/>
      <c:overlay val="0"/>
    </c:title>
    <c:autoTitleDeleted val="0"/>
    <c:plotArea>
      <c:barChart>
        <c:barDir val="bar"/>
        <c:grouping val="clustered"/>
        <c:ser>
          <c:idx val="0"/>
          <c:order val="0"/>
          <c:tx>
            <c:strRef>
              <c:f>Sheet1!$B$1</c:f>
              <c:strCache>
                <c:ptCount val="1"/>
                <c:pt idx="0">
                  <c:v>NDCG@10</c:v>
                </c:pt>
              </c:strCache>
            </c:strRef>
          </c:tx>
          <c:dPt>
            <c:idx val="0"/>
            <c:spPr>
              <a:solidFill>
                <a:srgbClr val="B4B4C4"/>
              </a:solidFill>
            </c:spPr>
          </c:dPt>
          <c:dPt>
            <c:idx val="1"/>
            <c:spPr>
              <a:solidFill>
                <a:srgbClr val="B4B4C4"/>
              </a:solidFill>
            </c:spPr>
          </c:dPt>
          <c:dPt>
            <c:idx val="2"/>
            <c:spPr>
              <a:solidFill>
                <a:srgbClr val="6D28D9"/>
              </a:solidFill>
            </c:spPr>
          </c:dPt>
          <c:dPt>
            <c:idx val="3"/>
            <c:spPr>
              <a:solidFill>
                <a:srgbClr val="B4B4C4"/>
              </a:solidFill>
            </c:spPr>
          </c:dPt>
          <c:dPt>
            <c:idx val="4"/>
            <c:spPr>
              <a:solidFill>
                <a:srgbClr val="B4B4C4"/>
              </a:solidFill>
            </c:spPr>
          </c:dPt>
          <c:cat>
            <c:strRef>
              <c:f>Sheet1!$A$2:$A$6</c:f>
              <c:strCache>
                <c:ptCount val="5"/>
                <c:pt idx="0">
                  <c:v>BM25</c:v>
                </c:pt>
                <c:pt idx="1">
                  <c:v>E5-base-v2, dense</c:v>
                </c:pt>
                <c:pt idx="2">
                  <c:v>Ours: E5-base-v2 + execution</c:v>
                </c:pt>
                <c:pt idx="3">
                  <c:v>E5-Mistral-7B</c:v>
                </c:pt>
                <c:pt idx="4">
                  <c:v>Voyage-Code-002 (API)</c:v>
                </c:pt>
              </c:strCache>
            </c:strRef>
          </c:cat>
          <c:val>
            <c:numRef>
              <c:f>Sheet1!$B$2:$B$6</c:f>
              <c:numCache>
                <c:formatCode>General</c:formatCode>
                <c:ptCount val="5"/>
                <c:pt idx="0">
                  <c:v>0.95</c:v>
                </c:pt>
                <c:pt idx="1">
                  <c:v>11.52</c:v>
                </c:pt>
                <c:pt idx="2">
                  <c:v>20.71</c:v>
                </c:pt>
                <c:pt idx="3">
                  <c:v>21.33</c:v>
                </c:pt>
                <c:pt idx="4">
                  <c:v>26.52</c:v>
                </c:pt>
              </c:numCache>
            </c:numRef>
          </c:val>
        </c:ser>
        <c:dLbls>
          <c:numFmt formatCode="0.00" sourceLinked="0"/>
          <c:txPr>
            <a:bodyPr/>
            <a:lstStyle/>
            <a:p>
              <a:pPr>
                <a:defRPr sz="1200" b="1"/>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1200"/>
            </a:pPr>
          </a:p>
        </c:txPr>
        <c:crossAx val="-2113994440"/>
        <c:crosses val="autoZero"/>
        <c:auto val="1"/>
        <c:lblAlgn val="ctr"/>
        <c:lblOffset val="100"/>
        <c:noMultiLvlLbl val="0"/>
      </c:catAx>
      <c:valAx>
        <c:axId val="-2113994440"/>
        <c:scaling>
          <c:max val="30.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CE9A8C-3F50-49F8-A835-316C22A1110D}" type="datetimeFigureOut">
              <a:rPr lang="en-IN" smtClean="0"/>
              <a:t>08-09-2026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3343F9-2D09-4642-A3BD-5BF627A067F3}" type="slidenum">
              <a:rPr lang="en-IN" smtClean="0"/>
              <a:t>‹#›</a:t>
            </a:fld>
            <a:endParaRPr lang="en-IN"/>
          </a:p>
        </p:txBody>
      </p:sp>
    </p:spTree>
    <p:extLst>
      <p:ext uri="{BB962C8B-B14F-4D97-AF65-F5344CB8AC3E}">
        <p14:creationId xmlns:p14="http://schemas.microsoft.com/office/powerpoint/2010/main" val="5691631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slide for the 3rd edition of the PRISM Generative AI Hackathon. Replace the SAMSUNG PRISM pill with the official PRISM logo image if you have the asset. Confirm the academic year label (2026-27) before circulating.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Add the Google Form URL and a contact email before sharing. Edition 2 organising team for reference: Language AI - Sourabh Tiwari, Gaurav, Sanjeeth Pothireddy, Gorang Maniar; PRISM - Binny Lakra, Prakhar Chandrakar, Vishu Kumar; Kick-off and mentors - Giridhar Jakki, Deepraj Prabhakar Patkar (Language AI), Srimanu Prasad Nagaraju, Ashish Kumar (Tech Strategy).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CFE64-7CE6-4299-B8FE-939866A3EB6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9E4360C-492F-4E2E-B967-599B2BD31D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6870CDB-78C3-4602-B35C-A826CBF20916}"/>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F585EF81-E96A-4C8D-A4F0-A9DF05C49CC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9FA2448-68BE-42AE-8001-48ECE62DC431}"/>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5512066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C5E08-CE8A-45BE-8C3E-C04A49CC8A6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5FCCB0C-95AB-4F7A-955D-2DC18750BFD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E96DA85-2FDE-4136-B9F6-AF0965475E5A}"/>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299B0367-ACE7-48B9-82C8-A7BFD1F98E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09A210-6017-4F71-9E78-B2C329B4A7E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1581247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AE6C5-6752-4963-B842-280808B201D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FEA6DFC-697D-4605-86C0-8572E022BEC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A341469-A18C-498E-BACC-28BCBFE904BB}"/>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FAED5D3B-1983-426F-A1AE-7470C43BB0E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35ABB1-45F2-4FEA-BB5A-3B053892DBC7}"/>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10265301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3F4AE-F142-401B-A5D1-4A52FF92CA0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C7C9BD1-2876-4C52-83CF-1CBA9D931B3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CE624D8-76A7-478F-ACA3-5749DEFD0E0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F29A939-0957-4E96-B38D-0B2E39D4137F}"/>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6" name="Footer Placeholder 5">
            <a:extLst>
              <a:ext uri="{FF2B5EF4-FFF2-40B4-BE49-F238E27FC236}">
                <a16:creationId xmlns:a16="http://schemas.microsoft.com/office/drawing/2014/main" id="{C89D44E1-B8BA-490F-B30A-538CC4D48FF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184BB79-7CA5-414E-B5B6-6A8E9AEE4A94}"/>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743542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86CE8-8BA4-4FB1-ACAA-E38F8ED7F74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2570902-F321-482A-924A-FF9A87CA5D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85B6F67-E437-4FE8-851B-B016F33CFE9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7CE7897-2D17-49F8-8762-68F8D5794F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63AE8E8-43BB-400D-8934-6D6B21D3A58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FDB6608-03F3-45EF-80BD-C6E305C07128}"/>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8" name="Footer Placeholder 7">
            <a:extLst>
              <a:ext uri="{FF2B5EF4-FFF2-40B4-BE49-F238E27FC236}">
                <a16:creationId xmlns:a16="http://schemas.microsoft.com/office/drawing/2014/main" id="{E665D75D-3AD4-4D0E-A5BC-9000973FD8E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706A546-DC61-467F-A112-3AC0277BB9A8}"/>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1716692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C8549-E392-4F05-B762-B5370E51C92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1059880-A67D-4A24-9138-E937AE75075F}"/>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4" name="Footer Placeholder 3">
            <a:extLst>
              <a:ext uri="{FF2B5EF4-FFF2-40B4-BE49-F238E27FC236}">
                <a16:creationId xmlns:a16="http://schemas.microsoft.com/office/drawing/2014/main" id="{01BF6EC7-BFAB-4137-9343-C66B7829AB5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FA6B929-B579-4261-8171-35357AE9A33C}"/>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337294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BAFEDF-BA35-4A7C-9388-604C048D57D0}"/>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3" name="Footer Placeholder 2">
            <a:extLst>
              <a:ext uri="{FF2B5EF4-FFF2-40B4-BE49-F238E27FC236}">
                <a16:creationId xmlns:a16="http://schemas.microsoft.com/office/drawing/2014/main" id="{11C80271-5700-43CC-A9BA-B2AAB47B214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EA712EA-BE6D-4AE5-B09E-215DE5B0EE9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1759072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A6235-A416-4C23-BE8E-8FC1CF0EC1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4A2C36B-7DDF-4371-9F0A-6E5B64554F5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13FA19A-E15E-47EA-B9B9-5F7FD0AA0B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E84724-CA93-4332-A03F-0909AC5249AD}"/>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6" name="Footer Placeholder 5">
            <a:extLst>
              <a:ext uri="{FF2B5EF4-FFF2-40B4-BE49-F238E27FC236}">
                <a16:creationId xmlns:a16="http://schemas.microsoft.com/office/drawing/2014/main" id="{E403302F-D853-499A-BB91-3BD5366E677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34AD427-BF9D-4A47-AF08-E4983B90C65A}"/>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40411880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1B540-7747-44F5-A3A4-69F051F363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A4392B5-0943-4B18-9708-C9FA86F835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47DFA04-BB4C-4DC0-9831-EB32549F5E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01BDBD-01E1-44D7-AB93-513FF196A2C4}"/>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6" name="Footer Placeholder 5">
            <a:extLst>
              <a:ext uri="{FF2B5EF4-FFF2-40B4-BE49-F238E27FC236}">
                <a16:creationId xmlns:a16="http://schemas.microsoft.com/office/drawing/2014/main" id="{D87D7BDB-9CCD-44F3-A4FB-D4BAE589BE3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ABC8D8A-A70C-4D57-8271-DCF5EEFC33AE}"/>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122362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A63EB-C66D-4D2D-9928-25D57CFDCDD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D91A17B-5319-4265-82A2-5D286CFAFD8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E972F85-7902-4426-947E-3509F7A06CB1}"/>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FD08658F-7DA3-40F3-B6FA-CF740F858EB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6B0DE9-130B-4DA8-9A0C-06A295C9D82C}"/>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4819505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54594E2-CBC8-4A0C-A110-E3B5A301CF6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CFBD2EA-CB7C-4CAB-855D-57F79191044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D2348B0-3CBB-41FA-A8EC-5DFC833D7ECD}"/>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1A7E08DA-D399-4DC8-89B1-C4EBC64DC98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DA6177-D647-4C5F-BA43-C02A1390F47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8146870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634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CE67A62-7E64-4BE9-8EDF-4904E871A04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8CA73B9-1A82-4479-978C-9C873CC677B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9977FC6-3D78-48A7-A3DB-BFC7C0EA3E8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27CDC877-1137-446E-919A-C66E313317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A258D39-C9B6-4DA9-9C05-38A0ECD4CE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5B04A4-2082-4D7E-8466-9BA22C990A78}" type="slidenum">
              <a:rPr lang="en-IN" smtClean="0"/>
              <a:t>‹#›</a:t>
            </a:fld>
            <a:endParaRPr lang="en-IN"/>
          </a:p>
        </p:txBody>
      </p:sp>
    </p:spTree>
    <p:extLst>
      <p:ext uri="{BB962C8B-B14F-4D97-AF65-F5344CB8AC3E}">
        <p14:creationId xmlns:p14="http://schemas.microsoft.com/office/powerpoint/2010/main" val="32791782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themeOverride" Target="../theme/themeOverride1.xml"/><Relationship Id="rId2"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777240" y="676656"/>
            <a:ext cx="2423160" cy="347472"/>
          </a:xfrm>
          <a:prstGeom prst="roundRect">
            <a:avLst>
              <a:gd name="adj" fmla="val 50000"/>
            </a:avLst>
          </a:prstGeom>
          <a:solidFill>
            <a:srgbClr val="FFFFFF"/>
          </a:solidFill>
          <a:ln w="12700">
            <a:solidFill>
              <a:srgbClr val="D9D3F0"/>
            </a:solidFill>
            <a:prstDash val="solid"/>
          </a:ln>
        </p:spPr>
      </p:sp>
      <p:sp>
        <p:nvSpPr>
          <p:cNvPr id="3" name="Text 1"/>
          <p:cNvSpPr txBox="1"/>
          <p:nvPr/>
        </p:nvSpPr>
        <p:spPr>
          <a:xfrm>
            <a:off x="777240" y="676656"/>
            <a:ext cx="2423160" cy="347472"/>
          </a:xfrm>
          <a:prstGeom prst="rect">
            <a:avLst/>
          </a:prstGeom>
          <a:noFill/>
          <a:ln/>
        </p:spPr>
        <p:txBody>
          <a:bodyPr wrap="square" lIns="0" tIns="0" rIns="0" bIns="0" rtlCol="0" anchor="ctr"/>
          <a:lstStyle/>
          <a:p>
            <a:pPr marL="0" indent="0" algn="ctr">
              <a:buNone/>
            </a:pPr>
            <a:r>
              <a:rPr lang="en-US" sz="1100" b="1" kern="0" spc="110" dirty="0">
                <a:solidFill>
                  <a:srgbClr val="6D28D9"/>
                </a:solidFill>
                <a:latin typeface="Arial" pitchFamily="34" charset="0"/>
                <a:ea typeface="Arial" pitchFamily="34" charset="-122"/>
                <a:cs typeface="Arial" pitchFamily="34" charset="-120"/>
              </a:rPr>
              <a:t>SAMSUNG PRISM</a:t>
            </a:r>
            <a:endParaRPr lang="en-US" sz="1100" dirty="0"/>
          </a:p>
        </p:txBody>
      </p:sp>
      <p:sp>
        <p:nvSpPr>
          <p:cNvPr id="4" name="Text 2"/>
          <p:cNvSpPr txBox="1"/>
          <p:nvPr/>
        </p:nvSpPr>
        <p:spPr>
          <a:xfrm>
            <a:off x="777240" y="1207008"/>
            <a:ext cx="6126480" cy="749808"/>
          </a:xfrm>
          <a:prstGeom prst="rect">
            <a:avLst/>
          </a:prstGeom>
          <a:noFill/>
          <a:ln/>
        </p:spPr>
        <p:txBody>
          <a:bodyPr wrap="square" lIns="0" tIns="0" rIns="0" bIns="0" rtlCol="0" anchor="ctr"/>
          <a:lstStyle/>
          <a:p>
            <a:pPr marL="0" indent="0">
              <a:buNone/>
            </a:pPr>
            <a:r>
              <a:rPr lang="en-US" sz="5000" b="1" dirty="0">
                <a:solidFill>
                  <a:srgbClr val="14142B"/>
                </a:solidFill>
                <a:latin typeface="Arial" pitchFamily="34" charset="0"/>
                <a:ea typeface="Arial" pitchFamily="34" charset="-122"/>
                <a:cs typeface="Arial" pitchFamily="34" charset="-120"/>
              </a:rPr>
              <a:t>Generative AI</a:t>
            </a:r>
            <a:endParaRPr lang="en-US" sz="5000" dirty="0"/>
          </a:p>
        </p:txBody>
      </p:sp>
      <p:sp>
        <p:nvSpPr>
          <p:cNvPr id="5" name="Text 3"/>
          <p:cNvSpPr txBox="1"/>
          <p:nvPr/>
        </p:nvSpPr>
        <p:spPr>
          <a:xfrm>
            <a:off x="777240" y="1901952"/>
            <a:ext cx="6126480" cy="749808"/>
          </a:xfrm>
          <a:prstGeom prst="rect">
            <a:avLst/>
          </a:prstGeom>
          <a:noFill/>
          <a:ln/>
        </p:spPr>
        <p:txBody>
          <a:bodyPr wrap="square" lIns="0" tIns="0" rIns="0" bIns="0" rtlCol="0" anchor="ctr"/>
          <a:lstStyle/>
          <a:p>
            <a:pPr marL="0" indent="0">
              <a:buNone/>
            </a:pPr>
            <a:r>
              <a:rPr lang="en-US" sz="5000" b="1" dirty="0">
                <a:solidFill>
                  <a:srgbClr val="6D28D9"/>
                </a:solidFill>
                <a:latin typeface="Arial" pitchFamily="34" charset="0"/>
                <a:ea typeface="Arial" pitchFamily="34" charset="-122"/>
                <a:cs typeface="Arial" pitchFamily="34" charset="-120"/>
              </a:rPr>
              <a:t>Hackathon</a:t>
            </a:r>
            <a:endParaRPr lang="en-US" sz="5000" dirty="0"/>
          </a:p>
        </p:txBody>
      </p:sp>
      <p:sp>
        <p:nvSpPr>
          <p:cNvPr id="6" name="Text 4"/>
          <p:cNvSpPr txBox="1"/>
          <p:nvPr/>
        </p:nvSpPr>
        <p:spPr>
          <a:xfrm>
            <a:off x="777240" y="2724912"/>
            <a:ext cx="6126480" cy="457200"/>
          </a:xfrm>
          <a:prstGeom prst="rect">
            <a:avLst/>
          </a:prstGeom>
          <a:noFill/>
          <a:ln/>
        </p:spPr>
        <p:txBody>
          <a:bodyPr wrap="square" lIns="0" tIns="0" rIns="0" bIns="0" rtlCol="0" anchor="ctr"/>
          <a:lstStyle/>
          <a:p>
            <a:pPr marL="0" indent="0">
              <a:buNone/>
            </a:pPr>
            <a:r>
              <a:rPr lang="en-US" sz="2500" b="1" dirty="0">
                <a:solidFill>
                  <a:srgbClr val="14142B"/>
                </a:solidFill>
                <a:latin typeface="Arial" pitchFamily="34" charset="0"/>
                <a:ea typeface="Arial" pitchFamily="34" charset="-122"/>
                <a:cs typeface="Arial" pitchFamily="34" charset="-120"/>
              </a:rPr>
              <a:t>3rd Edition</a:t>
            </a:r>
            <a:r>
              <a:rPr lang="en-US" sz="2000" dirty="0">
                <a:solidFill>
                  <a:srgbClr val="63637E"/>
                </a:solidFill>
                <a:latin typeface="Calibri" pitchFamily="34" charset="0"/>
                <a:ea typeface="Calibri" pitchFamily="34" charset="-122"/>
                <a:cs typeface="Calibri" pitchFamily="34" charset="-120"/>
              </a:rPr>
              <a:t>   2026 – 27</a:t>
            </a:r>
            <a:endParaRPr lang="en-US" sz="2500" dirty="0"/>
          </a:p>
        </p:txBody>
      </p:sp>
      <p:sp>
        <p:nvSpPr>
          <p:cNvPr id="7" name="Text 5"/>
          <p:cNvSpPr txBox="1"/>
          <p:nvPr/>
        </p:nvSpPr>
        <p:spPr>
          <a:xfrm>
            <a:off x="777240" y="3310128"/>
            <a:ext cx="5852160" cy="77724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63637E"/>
                </a:solidFill>
                <a:latin typeface="Calibri" pitchFamily="34" charset="0"/>
                <a:ea typeface="Calibri" pitchFamily="34" charset="-122"/>
                <a:cs typeface="Calibri" pitchFamily="34" charset="-120"/>
              </a:rPr>
              <a:t>Theme ID - 1 (Agentic Code Intelligence)</a:t>
            </a:r>
          </a:p>
          <a:p>
            <a:pPr marL="177800" indent="-177800">
              <a:spcAft>
                <a:spcPts val="500"/>
              </a:spcAft>
              <a:buSzPct val="100000"/>
              <a:buChar char="•"/>
            </a:pPr>
            <a:r>
              <a:rPr lang="en-US" sz="1400" dirty="0">
                <a:solidFill>
                  <a:srgbClr val="63637E"/>
                </a:solidFill>
                <a:latin typeface="Calibri" pitchFamily="34" charset="0"/>
                <a:ea typeface="Calibri" pitchFamily="34" charset="-122"/>
                <a:cs typeface="Calibri" pitchFamily="34" charset="-120"/>
              </a:rPr>
              <a:t>Team Name - Error404</a:t>
            </a:r>
          </a:p>
          <a:p>
            <a:pPr marL="177800" indent="-177800">
              <a:spcAft>
                <a:spcPts val="500"/>
              </a:spcAft>
              <a:buSzPct val="100000"/>
              <a:buChar char="•"/>
            </a:pPr>
            <a:r>
              <a:rPr lang="en-US" sz="1400" dirty="0">
                <a:solidFill>
                  <a:srgbClr val="63637E"/>
                </a:solidFill>
                <a:latin typeface="Calibri" pitchFamily="34" charset="0"/>
                <a:ea typeface="Calibri" pitchFamily="34" charset="-122"/>
                <a:cs typeface="Calibri" pitchFamily="34" charset="-120"/>
              </a:rPr>
              <a:t>College Name - VIT Vellore (VITV)</a:t>
            </a:r>
          </a:p>
          <a:p>
            <a:pPr marL="177800" indent="-177800">
              <a:spcAft>
                <a:spcPts val="500"/>
              </a:spcAft>
              <a:buSzPct val="100000"/>
              <a:buChar char="•"/>
            </a:pPr>
            <a:r>
              <a:rPr lang="en-US" sz="1400" dirty="0">
                <a:solidFill>
                  <a:srgbClr val="63637E"/>
                </a:solidFill>
                <a:latin typeface="Calibri" pitchFamily="34" charset="0"/>
                <a:ea typeface="Calibri" pitchFamily="34" charset="-122"/>
                <a:cs typeface="Calibri" pitchFamily="34" charset="-120"/>
              </a:rPr>
              <a:t>Member Name &amp; Email 1- Chiranjib Dash, chiranjib.dash2024@vitstudent.ac.in</a:t>
            </a:r>
          </a:p>
          <a:p>
            <a:pPr marL="177800" indent="-177800">
              <a:spcAft>
                <a:spcPts val="500"/>
              </a:spcAft>
              <a:buSzPct val="100000"/>
              <a:buChar char="•"/>
            </a:pPr>
            <a:r>
              <a:rPr lang="en-US" sz="1400" dirty="0">
                <a:solidFill>
                  <a:srgbClr val="63637E"/>
                </a:solidFill>
                <a:latin typeface="Calibri" pitchFamily="34" charset="0"/>
                <a:ea typeface="Calibri" pitchFamily="34" charset="-122"/>
                <a:cs typeface="Calibri" pitchFamily="34" charset="-120"/>
              </a:rPr>
              <a:t>Member Name &amp; Email 2- Aditya Ashutosh Mishra</a:t>
            </a:r>
          </a:p>
          <a:p>
            <a:pPr marL="177800" indent="-177800">
              <a:spcAft>
                <a:spcPts val="500"/>
              </a:spcAft>
              <a:buSzPct val="100000"/>
              <a:buFontTx/>
              <a:buChar char="•"/>
            </a:pPr>
            <a:r>
              <a:rPr lang="en-US" sz="1400" dirty="0">
                <a:solidFill>
                  <a:srgbClr val="63637E"/>
                </a:solidFill>
                <a:latin typeface="Calibri" pitchFamily="34" charset="0"/>
                <a:ea typeface="Calibri" pitchFamily="34" charset="-122"/>
                <a:cs typeface="Calibri" pitchFamily="34" charset="-120"/>
              </a:rPr>
              <a:t>Member Name &amp; Email 3- Aditya Jaiswal</a:t>
            </a:r>
          </a:p>
          <a:p>
            <a:pPr marL="177800" indent="-177800">
              <a:spcAft>
                <a:spcPts val="500"/>
              </a:spcAft>
              <a:buSzPct val="100000"/>
              <a:buFontTx/>
              <a:buChar char="•"/>
            </a:pPr>
            <a:r>
              <a:rPr lang="en-US" sz="1400" dirty="0">
                <a:solidFill>
                  <a:srgbClr val="63637E"/>
                </a:solidFill>
                <a:latin typeface="Calibri" pitchFamily="34" charset="0"/>
                <a:ea typeface="Calibri" pitchFamily="34" charset="-122"/>
                <a:cs typeface="Calibri" pitchFamily="34" charset="-120"/>
              </a:rPr>
              <a:t>Member Name &amp; Email 4- Chirag Goyal</a:t>
            </a:r>
          </a:p>
          <a:p>
            <a:pPr marL="177800" indent="-177800">
              <a:spcAft>
                <a:spcPts val="500"/>
              </a:spcAft>
              <a:buSzPct val="100000"/>
              <a:buFontTx/>
              <a:buChar char="•"/>
            </a:pPr>
            <a:r>
              <a:rPr lang="en-US" sz="1400" dirty="0">
                <a:solidFill>
                  <a:srgbClr val="63637E"/>
                </a:solidFill>
                <a:latin typeface="Calibri" pitchFamily="34" charset="0"/>
                <a:ea typeface="Calibri" pitchFamily="34" charset="-122"/>
                <a:cs typeface="Calibri" pitchFamily="34" charset="-120"/>
              </a:rPr>
              <a:t>Submission Github link - https://github.com/Chiranjib-x/prism-genai-code-retrieval</a:t>
            </a:r>
          </a:p>
          <a:p>
            <a:pPr marL="177800" indent="-177800">
              <a:spcAft>
                <a:spcPts val="500"/>
              </a:spcAft>
              <a:buSzPct val="100000"/>
              <a:buChar char="•"/>
            </a:pPr>
            <a:endParaRPr lang="en-US" sz="1600" dirty="0">
              <a:solidFill>
                <a:srgbClr val="63637E"/>
              </a:solidFill>
              <a:latin typeface="Calibri" pitchFamily="34" charset="0"/>
              <a:ea typeface="Calibri" pitchFamily="34" charset="-122"/>
              <a:cs typeface="Calibri" pitchFamily="34" charset="-120"/>
            </a:endParaRPr>
          </a:p>
        </p:txBody>
      </p:sp>
      <p:pic>
        <p:nvPicPr>
          <p:cNvPr id="14" name="Image 0" descr="hero_network.png"/>
          <p:cNvPicPr>
            <a:picLocks noChangeAspect="1"/>
          </p:cNvPicPr>
          <p:nvPr/>
        </p:nvPicPr>
        <p:blipFill>
          <a:blip r:embed="rId3"/>
          <a:stretch>
            <a:fillRect/>
          </a:stretch>
        </p:blipFill>
        <p:spPr>
          <a:xfrm>
            <a:off x="7059168" y="1051560"/>
            <a:ext cx="4572000" cy="4572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normAutofit/>
          </a:bodyPr>
          <a:lstStyle/>
          <a:p>
            <a:r>
              <a:rPr lang="en-IN" b="1" dirty="0">
                <a:solidFill>
                  <a:srgbClr val="704EA6"/>
                </a:solidFill>
                <a:latin typeface="+mn-lt"/>
                <a:cs typeface="Arial" pitchFamily="34" charset="-120"/>
              </a:rPr>
              <a:t>Theme</a:t>
            </a: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wrap="square"/>
          <a:lstStyle/>
          <a:p>
            <a:pPr>
              <a:spcAft>
                <a:spcPts val="500"/>
              </a:spcAft>
            </a:pPr>
            <a:r>
              <a:rPr b="1" sz="2000">
                <a:solidFill>
                  <a:srgbClr val="6D28D9"/>
                </a:solidFill>
              </a:rPr>
              <a:t>Task: </a:t>
            </a:r>
            <a:r>
              <a:rPr sz="2000">
                <a:solidFill>
                  <a:srgbClr val="14142B"/>
                </a:solidFill>
              </a:rPr>
              <a:t>given a programming problem written in plain English, find the Python program that solves it, among 8,765 candidates</a:t>
            </a:r>
            <a:endParaRPr lang="en-IN"/>
          </a:p>
          <a:p>
            <a:pPr>
              <a:spcAft>
                <a:spcPts val="500"/>
              </a:spcAft>
            </a:pPr>
            <a:r>
              <a:rPr b="1" sz="2000">
                <a:solidFill>
                  <a:srgbClr val="6D28D9"/>
                </a:solidFill>
              </a:rPr>
              <a:t>Benchmark: </a:t>
            </a:r>
            <a:r>
              <a:rPr sz="2000">
                <a:solidFill>
                  <a:srgbClr val="14142B"/>
                </a:solidFill>
              </a:rPr>
              <a:t>CoIR AppsRetrieval through MTEB, 3,765 test queries, scored by NDCG@10</a:t>
            </a:r>
          </a:p>
          <a:p>
            <a:pPr>
              <a:spcAft>
                <a:spcPts val="500"/>
              </a:spcAft>
            </a:pPr>
            <a:r>
              <a:rPr b="1" sz="2000">
                <a:solidFill>
                  <a:srgbClr val="6D28D9"/>
                </a:solidFill>
              </a:rPr>
              <a:t>Constraint: </a:t>
            </a:r>
            <a:r>
              <a:rPr sz="2000">
                <a:solidFill>
                  <a:srgbClr val="14142B"/>
                </a:solidFill>
              </a:rPr>
              <a:t>CPU-only inference, no GPU</a:t>
            </a:r>
          </a:p>
          <a:p>
            <a:pPr>
              <a:spcAft>
                <a:spcPts val="500"/>
              </a:spcAft>
            </a:pPr>
            <a:r>
              <a:rPr b="1" sz="2000">
                <a:solidFill>
                  <a:srgbClr val="6D28D9"/>
                </a:solidFill>
              </a:rPr>
              <a:t>Scope: </a:t>
            </a:r>
            <a:r>
              <a:rPr sz="2000">
                <a:solidFill>
                  <a:srgbClr val="14142B"/>
                </a:solidFill>
              </a:rPr>
              <a:t>retrieval only; ranking quality is the score, generation is out of scope</a:t>
            </a:r>
          </a:p>
          <a:p>
            <a:pPr>
              <a:spcAft>
                <a:spcPts val="500"/>
              </a:spcAft>
            </a:pPr>
            <a:r>
              <a:rPr b="1" sz="2000">
                <a:solidFill>
                  <a:srgbClr val="6D28D9"/>
                </a:solidFill>
              </a:rPr>
              <a:t>P1: </a:t>
            </a:r>
            <a:r>
              <a:rPr sz="2000">
                <a:solidFill>
                  <a:srgbClr val="14142B"/>
                </a:solidFill>
              </a:rPr>
              <a:t>retrieval that stays correct as the code corpus changes across versions</a:t>
            </a:r>
          </a:p>
          <a:p>
            <a:pPr>
              <a:spcAft>
                <a:spcPts val="500"/>
              </a:spcAft>
            </a:pPr>
            <a:r>
              <a:rPr b="1" sz="2000">
                <a:solidFill>
                  <a:srgbClr val="6D28D9"/>
                </a:solidFill>
              </a:rPr>
              <a:t>Our system: </a:t>
            </a:r>
            <a:r>
              <a:rPr sz="2000">
                <a:solidFill>
                  <a:srgbClr val="14142B"/>
                </a:solidFill>
              </a:rPr>
              <a:t>execution-verified code retrieval on CPU. Stage 1 finds candidates by meaning; stage 2 runs them to check they work.</a:t>
            </a:r>
          </a:p>
        </p:txBody>
      </p:sp>
    </p:spTree>
    <p:extLst>
      <p:ext uri="{BB962C8B-B14F-4D97-AF65-F5344CB8AC3E}">
        <p14:creationId xmlns:p14="http://schemas.microsoft.com/office/powerpoint/2010/main" val="2564788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normAutofit/>
          </a:bodyPr>
          <a:lstStyle/>
          <a:p>
            <a:r>
              <a:rPr lang="en-IN" b="1" dirty="0">
                <a:solidFill>
                  <a:srgbClr val="704EA6"/>
                </a:solidFill>
                <a:latin typeface="+mn-lt"/>
                <a:cs typeface="Arial" pitchFamily="34" charset="-120"/>
              </a:rPr>
              <a:t>Existing Solutions &amp; Gaps</a:t>
            </a: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wrap="square"/>
          <a:lstStyle/>
          <a:p>
            <a:pPr>
              <a:spcAft>
                <a:spcPts val="500"/>
              </a:spcAft>
            </a:pPr>
            <a:r>
              <a:rPr b="1" sz="1800">
                <a:solidFill>
                  <a:srgbClr val="6D28D9"/>
                </a:solidFill>
              </a:rPr>
              <a:t>Lexical search: </a:t>
            </a:r>
            <a:r>
              <a:rPr sz="1800">
                <a:solidFill>
                  <a:srgbClr val="14142B"/>
                </a:solidFill>
              </a:rPr>
              <a:t>BM25 scores 0.95 NDCG@10; problem text and code share few words</a:t>
            </a:r>
            <a:endParaRPr lang="en-IN"/>
          </a:p>
          <a:p>
            <a:pPr>
              <a:spcAft>
                <a:spcPts val="500"/>
              </a:spcAft>
            </a:pPr>
            <a:r>
              <a:rPr b="1" sz="1800">
                <a:solidFill>
                  <a:srgbClr val="6D28D9"/>
                </a:solidFill>
              </a:rPr>
              <a:t>Older code encoders: </a:t>
            </a:r>
            <a:r>
              <a:rPr sz="1800">
                <a:solidFill>
                  <a:srgbClr val="14142B"/>
                </a:solidFill>
              </a:rPr>
              <a:t>UniXcoder 1.36; not trained for English-to-code search</a:t>
            </a:r>
          </a:p>
          <a:p>
            <a:pPr>
              <a:spcAft>
                <a:spcPts val="500"/>
              </a:spcAft>
            </a:pPr>
            <a:r>
              <a:rPr b="1" sz="1800">
                <a:solidFill>
                  <a:srgbClr val="6D28D9"/>
                </a:solidFill>
              </a:rPr>
              <a:t>General text embedders: </a:t>
            </a:r>
            <a:r>
              <a:rPr sz="1800">
                <a:solidFill>
                  <a:srgbClr val="14142B"/>
                </a:solidFill>
              </a:rPr>
              <a:t>BGE-base 4.05 · E5-base-v2 11.52 · E5-Mistral-7B 21.33 (7B parameters)</a:t>
            </a:r>
          </a:p>
          <a:p>
            <a:pPr>
              <a:spcAft>
                <a:spcPts val="500"/>
              </a:spcAft>
            </a:pPr>
            <a:r>
              <a:rPr b="1" sz="1800">
                <a:solidFill>
                  <a:srgbClr val="6D28D9"/>
                </a:solidFill>
              </a:rPr>
              <a:t>Code-retrieval embedders: </a:t>
            </a:r>
            <a:r>
              <a:rPr sz="1800">
                <a:solidFill>
                  <a:srgbClr val="14142B"/>
                </a:solidFill>
              </a:rPr>
              <a:t>CodeXEmbed 400M / 2B / 7B: 48.57 / 74.99 / 85.22 · Voyage-Code-002 26.52 (proprietary API)</a:t>
            </a:r>
          </a:p>
          <a:p>
            <a:pPr>
              <a:spcAft>
                <a:spcPts val="500"/>
              </a:spcAft>
            </a:pPr>
            <a:r>
              <a:rPr b="1" sz="1800">
                <a:solidFill>
                  <a:srgbClr val="6D28D9"/>
                </a:solidFill>
              </a:rPr>
              <a:t>The gap: </a:t>
            </a:r>
            <a:r>
              <a:rPr sz="1800">
                <a:solidFill>
                  <a:srgbClr val="14142B"/>
                </a:solidFill>
              </a:rPr>
              <a:t>every one ranks by similarity. None checks whether a program actually solves the problem, so similar-looking wrong programs outrank correct ones.</a:t>
            </a:r>
          </a:p>
          <a:p>
            <a:pPr>
              <a:spcAft>
                <a:spcPts val="500"/>
              </a:spcAft>
            </a:pPr>
            <a:r>
              <a:rPr b="1" sz="1800">
                <a:solidFill>
                  <a:srgbClr val="6D28D9"/>
                </a:solidFill>
              </a:rPr>
              <a:t>The unused signal: </a:t>
            </a:r>
            <a:r>
              <a:rPr sz="1800">
                <a:solidFill>
                  <a:srgbClr val="14142B"/>
                </a:solidFill>
              </a:rPr>
              <a:t>78% of queries contain worked examples (Input → Output), a free and exact test of correctness</a:t>
            </a:r>
          </a:p>
        </p:txBody>
      </p:sp>
      <p:sp>
        <p:nvSpPr>
          <p:cNvPr id="4" name="TextBox 3"/>
          <p:cNvSpPr txBox="1"/>
          <p:nvPr/>
        </p:nvSpPr>
        <p:spPr>
          <a:xfrm>
            <a:off x="822960" y="5989320"/>
            <a:ext cx="10515600" cy="365760"/>
          </a:xfrm>
          <a:prstGeom prst="rect">
            <a:avLst/>
          </a:prstGeom>
          <a:noFill/>
        </p:spPr>
        <p:txBody>
          <a:bodyPr wrap="square">
            <a:spAutoFit/>
          </a:bodyPr>
          <a:lstStyle/>
          <a:p>
            <a:pPr algn="l"/>
            <a:r>
              <a:rPr sz="1200" i="1">
                <a:solidFill>
                  <a:srgbClr val="63637E"/>
                </a:solidFill>
              </a:rPr>
              <a:t>All scores are published NDCG@10 on the same benchmark (CoIR and CodeXEmbed papers).</a:t>
            </a:r>
          </a:p>
        </p:txBody>
      </p:sp>
    </p:spTree>
    <p:extLst>
      <p:ext uri="{BB962C8B-B14F-4D97-AF65-F5344CB8AC3E}">
        <p14:creationId xmlns:p14="http://schemas.microsoft.com/office/powerpoint/2010/main" val="15499704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a:xfrm>
            <a:off x="909917" y="266513"/>
            <a:ext cx="10515600" cy="1325563"/>
          </a:xfrm>
        </p:spPr>
        <p:txBody>
          <a:bodyPr/>
          <a:lstStyle/>
          <a:p>
            <a:r>
              <a:rPr lang="en-IN" b="1" dirty="0">
                <a:solidFill>
                  <a:srgbClr val="704EA6"/>
                </a:solidFill>
                <a:latin typeface="+mn-lt"/>
              </a:rPr>
              <a:t>Our Solutions &amp; Architecture Diagram</a:t>
            </a:r>
          </a:p>
        </p:txBody>
      </p:sp>
      <p:sp>
        <p:nvSpPr>
          <p:cNvPr id="3" name="Rounded Rectangle 2"/>
          <p:cNvSpPr/>
          <p:nvPr/>
        </p:nvSpPr>
        <p:spPr>
          <a:xfrm>
            <a:off x="566928" y="1783080"/>
            <a:ext cx="2423160" cy="1828800"/>
          </a:xfrm>
          <a:prstGeom prst="roundRect">
            <a:avLst>
              <a:gd name="adj" fmla="val 8000"/>
            </a:avLst>
          </a:prstGeom>
          <a:solidFill>
            <a:srgbClr val="EDE9FE"/>
          </a:solidFill>
          <a:ln w="19050">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500">
                <a:solidFill>
                  <a:srgbClr val="14142B"/>
                </a:solidFill>
              </a:rPr>
              <a:t>Problem statement</a:t>
            </a:r>
          </a:p>
          <a:p>
            <a:pPr algn="ctr">
              <a:spcBef>
                <a:spcPts val="400"/>
              </a:spcBef>
            </a:pPr>
            <a:r>
              <a:rPr sz="1300">
                <a:solidFill>
                  <a:srgbClr val="14142B"/>
                </a:solidFill>
              </a:rPr>
              <a:t>English description with worked examples (Input → Output)</a:t>
            </a:r>
          </a:p>
        </p:txBody>
      </p:sp>
      <p:sp>
        <p:nvSpPr>
          <p:cNvPr id="4" name="Rounded Rectangle 3"/>
          <p:cNvSpPr/>
          <p:nvPr/>
        </p:nvSpPr>
        <p:spPr>
          <a:xfrm>
            <a:off x="3465576" y="1783080"/>
            <a:ext cx="2423160" cy="1828800"/>
          </a:xfrm>
          <a:prstGeom prst="roundRect">
            <a:avLst>
              <a:gd name="adj" fmla="val 8000"/>
            </a:avLst>
          </a:prstGeom>
          <a:solidFill>
            <a:srgbClr val="6D28D9"/>
          </a:solidFill>
          <a:ln w="19050">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500">
                <a:solidFill>
                  <a:srgbClr val="FFFFFF"/>
                </a:solidFill>
              </a:rPr>
              <a:t>Stage 1 · Dense retrieval</a:t>
            </a:r>
          </a:p>
          <a:p>
            <a:pPr algn="ctr">
              <a:spcBef>
                <a:spcPts val="400"/>
              </a:spcBef>
            </a:pPr>
            <a:r>
              <a:rPr sz="1300">
                <a:solidFill>
                  <a:srgbClr val="FFFFFF"/>
                </a:solidFill>
              </a:rPr>
              <a:t>e5-base-v2 embeddings on CPU; cosine similarity over 8,765 programs → top 50</a:t>
            </a:r>
          </a:p>
        </p:txBody>
      </p:sp>
      <p:sp>
        <p:nvSpPr>
          <p:cNvPr id="5" name="Rounded Rectangle 4"/>
          <p:cNvSpPr/>
          <p:nvPr/>
        </p:nvSpPr>
        <p:spPr>
          <a:xfrm>
            <a:off x="6364224" y="1783080"/>
            <a:ext cx="2423160" cy="1828800"/>
          </a:xfrm>
          <a:prstGeom prst="roundRect">
            <a:avLst>
              <a:gd name="adj" fmla="val 8000"/>
            </a:avLst>
          </a:prstGeom>
          <a:solidFill>
            <a:srgbClr val="6D28D9"/>
          </a:solidFill>
          <a:ln w="19050">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500">
                <a:solidFill>
                  <a:srgbClr val="FFFFFF"/>
                </a:solidFill>
              </a:rPr>
              <a:t>Stage 2 · Execution check</a:t>
            </a:r>
          </a:p>
          <a:p>
            <a:pPr algn="ctr">
              <a:spcBef>
                <a:spcPts val="400"/>
              </a:spcBef>
            </a:pPr>
            <a:r>
              <a:rPr sz="1300">
                <a:solidFill>
                  <a:srgbClr val="FFFFFF"/>
                </a:solidFill>
              </a:rPr>
              <a:t>Each candidate runs on the parsed examples in an isolated python -I subprocess, 3 s timeout</a:t>
            </a:r>
          </a:p>
        </p:txBody>
      </p:sp>
      <p:sp>
        <p:nvSpPr>
          <p:cNvPr id="6" name="Rounded Rectangle 5"/>
          <p:cNvSpPr/>
          <p:nvPr/>
        </p:nvSpPr>
        <p:spPr>
          <a:xfrm>
            <a:off x="9262872" y="1783080"/>
            <a:ext cx="2423160" cy="1828800"/>
          </a:xfrm>
          <a:prstGeom prst="roundRect">
            <a:avLst>
              <a:gd name="adj" fmla="val 8000"/>
            </a:avLst>
          </a:prstGeom>
          <a:solidFill>
            <a:srgbClr val="EDE9FE"/>
          </a:solidFill>
          <a:ln w="19050">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500">
                <a:solidFill>
                  <a:srgbClr val="14142B"/>
                </a:solidFill>
              </a:rPr>
              <a:t>Rerank → results</a:t>
            </a:r>
          </a:p>
          <a:p>
            <a:pPr algn="ctr">
              <a:spcBef>
                <a:spcPts val="400"/>
              </a:spcBef>
            </a:pPr>
            <a:r>
              <a:rPr sz="1300">
                <a:solidFill>
                  <a:srgbClr val="14142B"/>
                </a:solidFill>
              </a:rPr>
              <a:t>Programs that reproduce every output move to the front; similarity order kept within groups</a:t>
            </a:r>
          </a:p>
        </p:txBody>
      </p:sp>
      <p:sp>
        <p:nvSpPr>
          <p:cNvPr id="7" name="Right Arrow 6"/>
          <p:cNvSpPr/>
          <p:nvPr/>
        </p:nvSpPr>
        <p:spPr>
          <a:xfrm>
            <a:off x="3063240" y="2514600"/>
            <a:ext cx="329184" cy="365760"/>
          </a:xfrm>
          <a:prstGeom prst="rightArrow">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ight Arrow 7"/>
          <p:cNvSpPr/>
          <p:nvPr/>
        </p:nvSpPr>
        <p:spPr>
          <a:xfrm>
            <a:off x="5961888" y="2514600"/>
            <a:ext cx="329184" cy="365760"/>
          </a:xfrm>
          <a:prstGeom prst="rightArrow">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ight Arrow 8"/>
          <p:cNvSpPr/>
          <p:nvPr/>
        </p:nvSpPr>
        <p:spPr>
          <a:xfrm>
            <a:off x="8860536" y="2514600"/>
            <a:ext cx="329184" cy="365760"/>
          </a:xfrm>
          <a:prstGeom prst="rightArrow">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465576" y="4160520"/>
            <a:ext cx="2423160" cy="1097280"/>
          </a:xfrm>
          <a:prstGeom prst="roundRect">
            <a:avLst>
              <a:gd name="adj" fmla="val 8000"/>
            </a:avLst>
          </a:prstGeom>
          <a:solidFill>
            <a:srgbClr val="FFFFFF"/>
          </a:solidFill>
          <a:ln w="19050">
            <a:solidFill>
              <a:srgbClr val="63637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400">
                <a:solidFill>
                  <a:srgbClr val="14142B"/>
                </a:solidFill>
              </a:rPr>
              <a:t>Embedding store</a:t>
            </a:r>
          </a:p>
          <a:p>
            <a:pPr algn="ctr">
              <a:spcBef>
                <a:spcPts val="400"/>
              </a:spcBef>
            </a:pPr>
            <a:r>
              <a:rPr sz="1200">
                <a:solidFill>
                  <a:srgbClr val="14142B"/>
                </a:solidFill>
              </a:rPr>
              <a:t>Content-addressed: a new code version re-embeds only changed snippets (P1)</a:t>
            </a:r>
          </a:p>
        </p:txBody>
      </p:sp>
      <p:sp>
        <p:nvSpPr>
          <p:cNvPr id="11" name="Rounded Rectangle 10"/>
          <p:cNvSpPr/>
          <p:nvPr/>
        </p:nvSpPr>
        <p:spPr>
          <a:xfrm>
            <a:off x="6364224" y="4160520"/>
            <a:ext cx="2423160" cy="1097280"/>
          </a:xfrm>
          <a:prstGeom prst="roundRect">
            <a:avLst>
              <a:gd name="adj" fmla="val 8000"/>
            </a:avLst>
          </a:prstGeom>
          <a:solidFill>
            <a:srgbClr val="FFFFFF"/>
          </a:solidFill>
          <a:ln w="19050">
            <a:solidFill>
              <a:srgbClr val="63637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400">
                <a:solidFill>
                  <a:srgbClr val="14142B"/>
                </a:solidFill>
              </a:rPr>
              <a:t>Execution cache</a:t>
            </a:r>
          </a:p>
          <a:p>
            <a:pPr algn="ctr">
              <a:spcBef>
                <a:spcPts val="400"/>
              </a:spcBef>
            </a:pPr>
            <a:r>
              <a:rPr sz="1200">
                <a:solidFill>
                  <a:srgbClr val="14142B"/>
                </a:solidFill>
              </a:rPr>
              <a:t>Keyed by program content + examples; append-only, resumable</a:t>
            </a:r>
          </a:p>
        </p:txBody>
      </p:sp>
      <p:sp>
        <p:nvSpPr>
          <p:cNvPr id="12" name="Up-Down Arrow 11"/>
          <p:cNvSpPr/>
          <p:nvPr/>
        </p:nvSpPr>
        <p:spPr>
          <a:xfrm>
            <a:off x="4539996" y="3685032"/>
            <a:ext cx="274320" cy="402335"/>
          </a:xfrm>
          <a:prstGeom prst="upDownArrow">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Up-Down Arrow 12"/>
          <p:cNvSpPr/>
          <p:nvPr/>
        </p:nvSpPr>
        <p:spPr>
          <a:xfrm>
            <a:off x="7438644" y="3685032"/>
            <a:ext cx="274320" cy="402335"/>
          </a:xfrm>
          <a:prstGeom prst="upDownArrow">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62872" y="4160520"/>
            <a:ext cx="2423160" cy="1097280"/>
          </a:xfrm>
          <a:prstGeom prst="rect">
            <a:avLst/>
          </a:prstGeom>
          <a:noFill/>
        </p:spPr>
        <p:txBody>
          <a:bodyPr wrap="square">
            <a:spAutoFit/>
          </a:bodyPr>
          <a:lstStyle/>
          <a:p>
            <a:pPr algn="l"/>
            <a:r>
              <a:rPr sz="1300" i="1">
                <a:solidFill>
                  <a:srgbClr val="63637E"/>
                </a:solidFill>
              </a:rPr>
              <a:t>Queries without worked examples (22%) keep the dense order.</a:t>
            </a:r>
          </a:p>
        </p:txBody>
      </p:sp>
      <p:sp>
        <p:nvSpPr>
          <p:cNvPr id="15" name="Rounded Rectangle 14"/>
          <p:cNvSpPr/>
          <p:nvPr/>
        </p:nvSpPr>
        <p:spPr>
          <a:xfrm>
            <a:off x="566928" y="5577840"/>
            <a:ext cx="11119104" cy="566928"/>
          </a:xfrm>
          <a:prstGeom prst="roundRect">
            <a:avLst>
              <a:gd name="adj" fmla="val 8000"/>
            </a:avLst>
          </a:prstGeom>
          <a:solidFill>
            <a:srgbClr val="EDE9FE"/>
          </a:solidFill>
          <a:ln w="19050">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400">
                <a:solidFill>
                  <a:srgbClr val="14142B"/>
                </a:solidFill>
              </a:rPr>
              <a:t>Both stages run inside MTEB's SearchProtocol</a:t>
            </a:r>
          </a:p>
          <a:p>
            <a:pPr algn="ctr">
              <a:spcBef>
                <a:spcPts val="0"/>
              </a:spcBef>
            </a:pPr>
            <a:r>
              <a:rPr sz="1200">
                <a:solidFill>
                  <a:srgbClr val="14142B"/>
                </a:solidFill>
              </a:rPr>
              <a:t>one command produces the official results JSON</a:t>
            </a:r>
          </a:p>
        </p:txBody>
      </p:sp>
    </p:spTree>
    <p:extLst>
      <p:ext uri="{BB962C8B-B14F-4D97-AF65-F5344CB8AC3E}">
        <p14:creationId xmlns:p14="http://schemas.microsoft.com/office/powerpoint/2010/main" val="2579789072"/>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r>
              <a:rPr lang="en-IN" b="1" dirty="0">
                <a:solidFill>
                  <a:srgbClr val="704EA6"/>
                </a:solidFill>
                <a:latin typeface="+mn-lt"/>
              </a:rPr>
              <a:t>Demo &amp; Product Walkthrough</a:t>
            </a: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a:xfrm>
            <a:off x="548640" y="1600200"/>
            <a:ext cx="4846320" cy="4480560"/>
          </a:xfrm>
        </p:spPr>
        <p:txBody>
          <a:bodyPr wrap="square"/>
          <a:lstStyle/>
          <a:p>
            <a:pPr>
              <a:spcAft>
                <a:spcPts val="500"/>
              </a:spcAft>
            </a:pPr>
            <a:r>
              <a:rPr b="1" sz="1600">
                <a:solidFill>
                  <a:srgbClr val="6D28D9"/>
                </a:solidFill>
              </a:rPr>
              <a:t>Run: </a:t>
            </a:r>
            <a:r>
              <a:rPr sz="1600">
                <a:solidFill>
                  <a:srgbClr val="14142B"/>
                </a:solidFill>
              </a:rPr>
              <a:t>python search.py --qid q5001 (or --file problem.txt, or a query string)</a:t>
            </a:r>
            <a:endParaRPr lang="en-IN"/>
          </a:p>
          <a:p>
            <a:pPr>
              <a:spcAft>
                <a:spcPts val="500"/>
              </a:spcAft>
            </a:pPr>
            <a:r>
              <a:rPr sz="1600">
                <a:solidFill>
                  <a:srgbClr val="14142B"/>
                </a:solidFill>
              </a:rPr>
              <a:t>The query has 2 worked examples: 50 candidates executed, 1 passes</a:t>
            </a:r>
          </a:p>
          <a:p>
            <a:pPr>
              <a:spcAft>
                <a:spcPts val="500"/>
              </a:spcAft>
            </a:pPr>
            <a:r>
              <a:rPr sz="1600">
                <a:solidFill>
                  <a:srgbClr val="14142B"/>
                </a:solidFill>
              </a:rPr>
              <a:t>The correct program sits at dense rank 42, well outside the top 10</a:t>
            </a:r>
          </a:p>
          <a:p>
            <a:pPr>
              <a:spcAft>
                <a:spcPts val="500"/>
              </a:spcAft>
            </a:pPr>
            <a:r>
              <a:rPr sz="1600">
                <a:solidFill>
                  <a:srgbClr val="14142B"/>
                </a:solidFill>
              </a:rPr>
              <a:t>Execution moves it to rank 1</a:t>
            </a:r>
          </a:p>
          <a:p>
            <a:pPr>
              <a:spcAft>
                <a:spcPts val="500"/>
              </a:spcAft>
            </a:pPr>
            <a:r>
              <a:rPr b="1" sz="1600">
                <a:solidFill>
                  <a:srgbClr val="6D28D9"/>
                </a:solidFill>
              </a:rPr>
              <a:t>Speed on CPU: </a:t>
            </a:r>
            <a:r>
              <a:rPr sz="1600">
                <a:solidFill>
                  <a:srgbClr val="14142B"/>
                </a:solidFill>
              </a:rPr>
              <a:t>query encode 261 ms · search 3.4 ms over 8,765 programs · 50 executions 922 ms</a:t>
            </a:r>
          </a:p>
          <a:p>
            <a:pPr>
              <a:spcAft>
                <a:spcPts val="500"/>
              </a:spcAft>
            </a:pPr>
            <a:r>
              <a:rPr b="1" sz="1600">
                <a:solidFill>
                  <a:srgbClr val="6D28D9"/>
                </a:solidFill>
              </a:rPr>
              <a:t>Demo video: </a:t>
            </a:r>
            <a:r>
              <a:rPr sz="1600">
                <a:solidFill>
                  <a:srgbClr val="14142B"/>
                </a:solidFill>
              </a:rPr>
              <a:t>https://youtu.be/WuWeffTKWeM</a:t>
            </a:r>
          </a:p>
        </p:txBody>
      </p:sp>
      <p:sp>
        <p:nvSpPr>
          <p:cNvPr id="4" name="Rectangle 3"/>
          <p:cNvSpPr/>
          <p:nvPr/>
        </p:nvSpPr>
        <p:spPr>
          <a:xfrm>
            <a:off x="5623560" y="1737360"/>
            <a:ext cx="6035040" cy="2743200"/>
          </a:xfrm>
          <a:prstGeom prst="rect">
            <a:avLst/>
          </a:prstGeom>
          <a:solidFill>
            <a:srgbClr val="141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760720" y="1828800"/>
            <a:ext cx="5806440" cy="2560320"/>
          </a:xfrm>
          <a:prstGeom prst="rect">
            <a:avLst/>
          </a:prstGeom>
          <a:noFill/>
        </p:spPr>
        <p:txBody>
          <a:bodyPr wrap="square">
            <a:spAutoFit/>
          </a:bodyPr>
          <a:lstStyle/>
          <a:p>
            <a:pPr algn="l"/>
            <a:r>
              <a:rPr sz="1200" i="0">
                <a:solidFill>
                  <a:srgbClr val="E4E4F0"/>
                </a:solidFill>
                <a:latin typeface="Consolas"/>
              </a:rPr>
              <a:t>rank  doc        sim  exec  first line</a:t>
            </a:r>
          </a:p>
          <a:p>
            <a:pPr algn="l"/>
            <a:r>
              <a:rPr sz="1200" i="0">
                <a:solidFill>
                  <a:srgbClr val="E4E4F0"/>
                </a:solidFill>
                <a:latin typeface="Consolas"/>
              </a:rPr>
              <a:t>   1  d5001    0.783  PASS  s = input()  &lt;-- gold</a:t>
            </a:r>
          </a:p>
          <a:p>
            <a:pPr algn="l"/>
            <a:r>
              <a:rPr sz="1200" i="0">
                <a:solidFill>
                  <a:srgbClr val="E4E4F0"/>
                </a:solidFill>
                <a:latin typeface="Consolas"/>
              </a:rPr>
              <a:t>   2  d5774    0.802  fail  #~ # MAGIC CODEFORCES PYTHON FAST IO</a:t>
            </a:r>
          </a:p>
          <a:p>
            <a:pPr algn="l"/>
            <a:r>
              <a:rPr sz="1200" i="0">
                <a:solidFill>
                  <a:srgbClr val="E4E4F0"/>
                </a:solidFill>
                <a:latin typeface="Consolas"/>
              </a:rPr>
              <a:t>   3  d6561    0.794  fail  #!/usr/bin/env python3</a:t>
            </a:r>
          </a:p>
          <a:p>
            <a:pPr algn="l"/>
            <a:r>
              <a:rPr sz="1200" i="0">
                <a:solidFill>
                  <a:srgbClr val="E4E4F0"/>
                </a:solidFill>
                <a:latin typeface="Consolas"/>
              </a:rPr>
              <a:t>   4  d7432    0.793  fail  import sys</a:t>
            </a:r>
          </a:p>
          <a:p>
            <a:pPr algn="l"/>
            <a:r>
              <a:rPr sz="1200" i="0">
                <a:solidFill>
                  <a:srgbClr val="E4E4F0"/>
                </a:solidFill>
                <a:latin typeface="Consolas"/>
              </a:rPr>
              <a:t>   5  d1301    0.793  fail  from sys import stdin,stdout</a:t>
            </a:r>
          </a:p>
          <a:p>
            <a:pPr algn="l"/>
            <a:r>
              <a:rPr sz="1200" i="0">
                <a:solidFill>
                  <a:srgbClr val="E4E4F0"/>
                </a:solidFill>
                <a:latin typeface="Consolas"/>
              </a:rPr>
              <a:t>  ...</a:t>
            </a:r>
          </a:p>
          <a:p>
            <a:pPr algn="l"/>
            <a:r>
              <a:rPr sz="1200" i="0">
                <a:solidFill>
                  <a:srgbClr val="E4E4F0"/>
                </a:solidFill>
                <a:latin typeface="Consolas"/>
              </a:rPr>
              <a:t>gold d5001: dense rank 42 -&gt; final rank 1</a:t>
            </a:r>
          </a:p>
          <a:p>
            <a:pPr algn="l"/>
            <a:r>
              <a:rPr sz="1200" i="0">
                <a:solidFill>
                  <a:srgbClr val="E4E4F0"/>
                </a:solidFill>
                <a:latin typeface="Consolas"/>
              </a:rPr>
              <a:t/>
            </a:r>
          </a:p>
          <a:p>
            <a:pPr algn="l"/>
            <a:r>
              <a:rPr sz="1200" i="0">
                <a:solidFill>
                  <a:srgbClr val="E4E4F0"/>
                </a:solidFill>
                <a:latin typeface="Consolas"/>
              </a:rPr>
              <a:t>timings: model+index load 1.2s | query encode 261 ms |</a:t>
            </a:r>
          </a:p>
          <a:p>
            <a:pPr algn="l"/>
            <a:r>
              <a:rPr sz="1200" i="0">
                <a:solidFill>
                  <a:srgbClr val="E4E4F0"/>
                </a:solidFill>
                <a:latin typeface="Consolas"/>
              </a:rPr>
              <a:t>search 3.4 ms over 8,765 docs | execution 922 ms</a:t>
            </a:r>
          </a:p>
        </p:txBody>
      </p:sp>
      <p:sp>
        <p:nvSpPr>
          <p:cNvPr id="6" name="TextBox 5"/>
          <p:cNvSpPr txBox="1"/>
          <p:nvPr/>
        </p:nvSpPr>
        <p:spPr>
          <a:xfrm>
            <a:off x="5623560" y="4526280"/>
            <a:ext cx="6035040" cy="365760"/>
          </a:xfrm>
          <a:prstGeom prst="rect">
            <a:avLst/>
          </a:prstGeom>
          <a:noFill/>
        </p:spPr>
        <p:txBody>
          <a:bodyPr wrap="square">
            <a:spAutoFit/>
          </a:bodyPr>
          <a:lstStyle/>
          <a:p>
            <a:pPr algn="l"/>
            <a:r>
              <a:rPr sz="1100" i="1">
                <a:solidFill>
                  <a:srgbClr val="63637E"/>
                </a:solidFill>
              </a:rPr>
              <a:t>Actual output of python search.py --qid q5001 (e5-base-v2, top 50; ranks 6-10 omitted)</a:t>
            </a:r>
          </a:p>
        </p:txBody>
      </p:sp>
    </p:spTree>
    <p:extLst>
      <p:ext uri="{BB962C8B-B14F-4D97-AF65-F5344CB8AC3E}">
        <p14:creationId xmlns:p14="http://schemas.microsoft.com/office/powerpoint/2010/main" val="1178244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r>
              <a:rPr lang="en-US" sz="4400" b="1" dirty="0">
                <a:solidFill>
                  <a:srgbClr val="704EA6"/>
                </a:solidFill>
                <a:latin typeface="Calibri" pitchFamily="34" charset="0"/>
                <a:ea typeface="Calibri" pitchFamily="34" charset="-122"/>
                <a:cs typeface="Calibri" pitchFamily="34" charset="-120"/>
              </a:rPr>
              <a:t>Tools and tech stack used</a:t>
            </a:r>
            <a:endParaRPr lang="en-IN" b="1" dirty="0">
              <a:solidFill>
                <a:srgbClr val="704EA6"/>
              </a:solidFill>
            </a:endParaRP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wrap="square"/>
          <a:lstStyle/>
          <a:p>
            <a:pPr>
              <a:spcAft>
                <a:spcPts val="500"/>
              </a:spcAft>
            </a:pPr>
            <a:r>
              <a:rPr b="1" sz="1900">
                <a:solidFill>
                  <a:srgbClr val="6D28D9"/>
                </a:solidFill>
              </a:rPr>
              <a:t>Language: </a:t>
            </a:r>
            <a:r>
              <a:rPr sz="1900">
                <a:solidFill>
                  <a:srgbClr val="14142B"/>
                </a:solidFill>
              </a:rPr>
              <a:t>Python 3.11</a:t>
            </a:r>
            <a:endParaRPr lang="en-IN" dirty="0"/>
          </a:p>
          <a:p>
            <a:pPr>
              <a:spcAft>
                <a:spcPts val="500"/>
              </a:spcAft>
            </a:pPr>
            <a:r>
              <a:rPr b="1" sz="1900">
                <a:solidFill>
                  <a:srgbClr val="6D28D9"/>
                </a:solidFill>
              </a:rPr>
              <a:t>Models: </a:t>
            </a:r>
            <a:r>
              <a:rPr sz="1900">
                <a:solidFill>
                  <a:srgbClr val="14142B"/>
                </a:solidFill>
              </a:rPr>
              <a:t>intfloat/e5-base-v2 (submitted, MIT) · Salesforce/SFR-Embedding-Code-400M_R (integrated, optional, CC-BY-NC-4.0)</a:t>
            </a:r>
          </a:p>
          <a:p>
            <a:pPr>
              <a:spcAft>
                <a:spcPts val="500"/>
              </a:spcAft>
            </a:pPr>
            <a:r>
              <a:rPr b="1" sz="1900">
                <a:solidFill>
                  <a:srgbClr val="6D28D9"/>
                </a:solidFill>
              </a:rPr>
              <a:t>ML stack: </a:t>
            </a:r>
            <a:r>
              <a:rPr sz="1900">
                <a:solidFill>
                  <a:srgbClr val="14142B"/>
                </a:solidFill>
              </a:rPr>
              <a:t>PyTorch 2.14 (CPU build) · sentence-transformers 6.1 · transformers 5.17 · NumPy</a:t>
            </a:r>
          </a:p>
          <a:p>
            <a:pPr>
              <a:spcAft>
                <a:spcPts val="500"/>
              </a:spcAft>
            </a:pPr>
            <a:r>
              <a:rPr b="1" sz="1900">
                <a:solidFill>
                  <a:srgbClr val="6D28D9"/>
                </a:solidFill>
              </a:rPr>
              <a:t>Benchmark: </a:t>
            </a:r>
            <a:r>
              <a:rPr sz="1900">
                <a:solidFill>
                  <a:srgbClr val="14142B"/>
                </a:solidFill>
              </a:rPr>
              <a:t>MTEB 2.21.8 · Hugging Face datasets · CoIR AppsRetrieval</a:t>
            </a:r>
          </a:p>
          <a:p>
            <a:pPr>
              <a:spcAft>
                <a:spcPts val="500"/>
              </a:spcAft>
            </a:pPr>
            <a:r>
              <a:rPr b="1" sz="1900">
                <a:solidFill>
                  <a:srgbClr val="6D28D9"/>
                </a:solidFill>
              </a:rPr>
              <a:t>Execution sandbox: </a:t>
            </a:r>
            <a:r>
              <a:rPr sz="1900">
                <a:solidFill>
                  <a:srgbClr val="14142B"/>
                </a:solidFill>
              </a:rPr>
              <a:t>Python subprocess in isolated mode (-I), throwaway temp directory, stripped environment, hard timeout, 24 parallel workers</a:t>
            </a:r>
          </a:p>
          <a:p>
            <a:pPr>
              <a:spcAft>
                <a:spcPts val="500"/>
              </a:spcAft>
            </a:pPr>
            <a:r>
              <a:rPr b="1" sz="1900">
                <a:solidFill>
                  <a:srgbClr val="6D28D9"/>
                </a:solidFill>
              </a:rPr>
              <a:t>Packaging: </a:t>
            </a:r>
            <a:r>
              <a:rPr sz="1900">
                <a:solidFill>
                  <a:srgbClr val="14142B"/>
                </a:solidFill>
              </a:rPr>
              <a:t>pinned requirements.txt · Dockerfile · MIT licence</a:t>
            </a:r>
          </a:p>
          <a:p>
            <a:pPr>
              <a:spcAft>
                <a:spcPts val="500"/>
              </a:spcAft>
            </a:pPr>
            <a:r>
              <a:rPr b="1" sz="1900">
                <a:solidFill>
                  <a:srgbClr val="6D28D9"/>
                </a:solidFill>
              </a:rPr>
              <a:t>Development: </a:t>
            </a:r>
            <a:r>
              <a:rPr sz="1900">
                <a:solidFill>
                  <a:srgbClr val="14142B"/>
                </a:solidFill>
              </a:rPr>
              <a:t>built with Claude Code (AI coding assistant); see AI_DISCLOSURE.md</a:t>
            </a:r>
          </a:p>
        </p:txBody>
      </p:sp>
    </p:spTree>
    <p:extLst>
      <p:ext uri="{BB962C8B-B14F-4D97-AF65-F5344CB8AC3E}">
        <p14:creationId xmlns:p14="http://schemas.microsoft.com/office/powerpoint/2010/main" val="37248288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r>
              <a:rPr lang="en-US" sz="4400" b="1" dirty="0">
                <a:solidFill>
                  <a:srgbClr val="704EA6"/>
                </a:solidFill>
                <a:latin typeface="Calibri" pitchFamily="34" charset="0"/>
                <a:ea typeface="Calibri" pitchFamily="34" charset="-122"/>
                <a:cs typeface="Calibri" pitchFamily="34" charset="-120"/>
              </a:rPr>
              <a:t>Impact &amp; Use case</a:t>
            </a:r>
            <a:endParaRPr lang="en-IN" b="1" dirty="0">
              <a:solidFill>
                <a:srgbClr val="704EA6"/>
              </a:solidFill>
            </a:endParaRP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wrap="square"/>
          <a:lstStyle/>
          <a:p>
            <a:pPr>
              <a:spcAft>
                <a:spcPts val="500"/>
              </a:spcAft>
            </a:pPr>
            <a:r>
              <a:rPr b="1" sz="2000">
                <a:solidFill>
                  <a:srgbClr val="6D28D9"/>
                </a:solidFill>
              </a:rPr>
              <a:t>Code search that returns code that works: </a:t>
            </a:r>
            <a:r>
              <a:rPr sz="2000">
                <a:solidFill>
                  <a:srgbClr val="14142B"/>
                </a:solidFill>
              </a:rPr>
              <a:t>developers and coding agents get candidates that already pass the examples they care about, not just similar-looking code</a:t>
            </a:r>
            <a:endParaRPr lang="en-IN" dirty="0"/>
          </a:p>
          <a:p>
            <a:pPr>
              <a:spcAft>
                <a:spcPts val="500"/>
              </a:spcAft>
            </a:pPr>
            <a:r>
              <a:rPr b="1" sz="2000">
                <a:solidFill>
                  <a:srgbClr val="6D28D9"/>
                </a:solidFill>
              </a:rPr>
              <a:t>Verification for agentic tools: </a:t>
            </a:r>
            <a:r>
              <a:rPr sz="2000">
                <a:solidFill>
                  <a:srgbClr val="14142B"/>
                </a:solidFill>
              </a:rPr>
              <a:t>an agent can retrieve, execute and keep only candidates that pass, before generating anything new</a:t>
            </a:r>
          </a:p>
          <a:p>
            <a:pPr>
              <a:spcAft>
                <a:spcPts val="500"/>
              </a:spcAft>
            </a:pPr>
            <a:r>
              <a:rPr b="1" sz="2000">
                <a:solidFill>
                  <a:srgbClr val="6D28D9"/>
                </a:solidFill>
              </a:rPr>
              <a:t>Runs where the code lives: </a:t>
            </a:r>
            <a:r>
              <a:rPr sz="2000">
                <a:solidFill>
                  <a:srgbClr val="14142B"/>
                </a:solidFill>
              </a:rPr>
              <a:t>CPU only. The whole pipeline runs on a laptop or on-premises, and no source code leaves the machine.</a:t>
            </a:r>
          </a:p>
          <a:p>
            <a:pPr>
              <a:spcAft>
                <a:spcPts val="500"/>
              </a:spcAft>
            </a:pPr>
            <a:r>
              <a:rPr b="1" sz="2000">
                <a:solidFill>
                  <a:srgbClr val="6D28D9"/>
                </a:solidFill>
              </a:rPr>
              <a:t>Evolving codebases (P1): </a:t>
            </a:r>
            <a:r>
              <a:rPr sz="2000">
                <a:solidFill>
                  <a:srgbClr val="14142B"/>
                </a:solidFill>
              </a:rPr>
              <a:t>content-addressed indexes re-embed only snippets that changed, and a stale pass/fail is never served for edited code</a:t>
            </a:r>
          </a:p>
          <a:p>
            <a:pPr>
              <a:spcAft>
                <a:spcPts val="500"/>
              </a:spcAft>
            </a:pPr>
            <a:r>
              <a:rPr b="1" sz="2000">
                <a:solidFill>
                  <a:srgbClr val="6D28D9"/>
                </a:solidFill>
              </a:rPr>
              <a:t>Cheap to adopt: </a:t>
            </a:r>
            <a:r>
              <a:rPr sz="2000">
                <a:solidFill>
                  <a:srgbClr val="14142B"/>
                </a:solidFill>
              </a:rPr>
              <a:t>the execution stage has no model to train and stacks on top of any embedder</a:t>
            </a:r>
          </a:p>
        </p:txBody>
      </p:sp>
    </p:spTree>
    <p:extLst>
      <p:ext uri="{BB962C8B-B14F-4D97-AF65-F5344CB8AC3E}">
        <p14:creationId xmlns:p14="http://schemas.microsoft.com/office/powerpoint/2010/main" val="36681190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pPr>
              <a:spcAft>
                <a:spcPts val="500"/>
              </a:spcAft>
              <a:buSzPct val="100000"/>
            </a:pPr>
            <a:r>
              <a:rPr lang="en-US" sz="4400" b="1" dirty="0">
                <a:solidFill>
                  <a:srgbClr val="704EA6"/>
                </a:solidFill>
                <a:latin typeface="Calibri" pitchFamily="34" charset="0"/>
                <a:ea typeface="Calibri" pitchFamily="34" charset="-122"/>
                <a:cs typeface="Calibri" pitchFamily="34" charset="-120"/>
              </a:rPr>
              <a:t>Innovation highlights, results and limitations</a:t>
            </a:r>
            <a:endParaRPr lang="en-US" sz="4400" b="1" dirty="0">
              <a:solidFill>
                <a:srgbClr val="704EA6"/>
              </a:solidFill>
            </a:endParaRP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a:xfrm>
            <a:off x="6492240" y="1600200"/>
            <a:ext cx="5303520" cy="4572000"/>
          </a:xfrm>
        </p:spPr>
        <p:txBody>
          <a:bodyPr wrap="square"/>
          <a:lstStyle/>
          <a:p>
            <a:pPr>
              <a:spcAft>
                <a:spcPts val="500"/>
              </a:spcAft>
            </a:pPr>
            <a:r>
              <a:rPr b="1" sz="1500">
                <a:solidFill>
                  <a:srgbClr val="6D28D9"/>
                </a:solidFill>
              </a:rPr>
              <a:t>Result: </a:t>
            </a:r>
            <a:r>
              <a:rPr sz="1500">
                <a:solidFill>
                  <a:srgbClr val="14142B"/>
                </a:solidFill>
              </a:rPr>
              <a:t>NDCG@10 11.52 → 20.71 (+79.8% relative); MRR@10 9.88 → 19.96 on the full test split</a:t>
            </a:r>
            <a:endParaRPr lang="en-IN" dirty="0"/>
          </a:p>
          <a:p>
            <a:pPr>
              <a:spcAft>
                <a:spcPts val="500"/>
              </a:spcAft>
            </a:pPr>
            <a:r>
              <a:rPr sz="1500">
                <a:solidFill>
                  <a:srgbClr val="14142B"/>
                </a:solidFill>
              </a:rPr>
              <a:t>Level with E5-Mistral-7B using a model ~65× smaller, on CPU</a:t>
            </a:r>
          </a:p>
          <a:p>
            <a:pPr>
              <a:spcAft>
                <a:spcPts val="500"/>
              </a:spcAft>
            </a:pPr>
            <a:r>
              <a:rPr b="1" sz="1500">
                <a:solidFill>
                  <a:srgbClr val="6D28D9"/>
                </a:solidFill>
              </a:rPr>
              <a:t>Verified: </a:t>
            </a:r>
            <a:r>
              <a:rPr sz="1500">
                <a:solidFill>
                  <a:srgbClr val="14142B"/>
                </a:solidFill>
              </a:rPr>
              <a:t>official MTEB JSON, plus independent rescoring of all 3,765 predictions</a:t>
            </a:r>
          </a:p>
          <a:p>
            <a:pPr>
              <a:spcAft>
                <a:spcPts val="500"/>
              </a:spcAft>
            </a:pPr>
            <a:r>
              <a:rPr b="1" sz="1500">
                <a:solidFill>
                  <a:srgbClr val="6D28D9"/>
                </a:solidFill>
              </a:rPr>
              <a:t>Limitations: </a:t>
            </a:r>
            <a:r>
              <a:rPr sz="1500">
                <a:solidFill>
                  <a:srgbClr val="14142B"/>
                </a:solidFill>
              </a:rPr>
              <a:t>execution only rescues a correct program found in the top 50 (28% of queries)</a:t>
            </a:r>
          </a:p>
          <a:p>
            <a:pPr lvl="1">
              <a:spcAft>
                <a:spcPts val="500"/>
              </a:spcAft>
            </a:pPr>
            <a:r>
              <a:rPr sz="1300">
                <a:solidFill>
                  <a:srgbClr val="14142B"/>
                </a:solidFill>
              </a:rPr>
              <a:t>22% of queries have no parseable examples and keep the dense order</a:t>
            </a:r>
          </a:p>
          <a:p>
            <a:pPr lvl="1">
              <a:spcAft>
                <a:spcPts val="500"/>
              </a:spcAft>
            </a:pPr>
            <a:r>
              <a:rPr sz="1300">
                <a:solidFill>
                  <a:srgbClr val="14142B"/>
                </a:solidFill>
              </a:rPr>
              <a:t>Passing the examples is evidence, not proof of correctness on all inputs</a:t>
            </a:r>
          </a:p>
          <a:p>
            <a:pPr lvl="1">
              <a:spcAft>
                <a:spcPts val="500"/>
              </a:spcAft>
            </a:pPr>
            <a:r>
              <a:rPr sz="1300">
                <a:solidFill>
                  <a:srgbClr val="14142B"/>
                </a:solidFill>
              </a:rPr>
              <a:t>Windows sandbox has no memory or network limits; use Docker with --network none</a:t>
            </a:r>
          </a:p>
          <a:p>
            <a:pPr lvl="1">
              <a:spcAft>
                <a:spcPts val="500"/>
              </a:spcAft>
            </a:pPr>
            <a:r>
              <a:rPr sz="1300">
                <a:solidFill>
                  <a:srgbClr val="14142B"/>
                </a:solidFill>
              </a:rPr>
              <a:t>CodeXEmbed full run not finished, so no score is claimed for it</a:t>
            </a:r>
          </a:p>
        </p:txBody>
      </p:sp>
      <p:graphicFrame>
        <p:nvGraphicFramePr>
          <p:cNvPr id="4" name="Chart 3"/>
          <p:cNvGraphicFramePr>
            <a:graphicFrameLocks noGrp="1"/>
          </p:cNvGraphicFramePr>
          <p:nvPr/>
        </p:nvGraphicFramePr>
        <p:xfrm>
          <a:off x="457200" y="1600200"/>
          <a:ext cx="5852160" cy="3840480"/>
        </p:xfrm>
        <a:graphic>
          <a:graphicData uri="http://schemas.openxmlformats.org/drawingml/2006/chart">
            <c:chart xmlns:c="http://schemas.openxmlformats.org/drawingml/2006/chart" r:id="rId2"/>
          </a:graphicData>
        </a:graphic>
      </p:graphicFrame>
      <p:sp>
        <p:nvSpPr>
          <p:cNvPr id="5" name="TextBox 4"/>
          <p:cNvSpPr txBox="1"/>
          <p:nvPr/>
        </p:nvSpPr>
        <p:spPr>
          <a:xfrm>
            <a:off x="457200" y="5486400"/>
            <a:ext cx="5852160" cy="640080"/>
          </a:xfrm>
          <a:prstGeom prst="rect">
            <a:avLst/>
          </a:prstGeom>
          <a:noFill/>
        </p:spPr>
        <p:txBody>
          <a:bodyPr wrap="square">
            <a:spAutoFit/>
          </a:bodyPr>
          <a:lstStyle/>
          <a:p>
            <a:pPr algn="l"/>
            <a:r>
              <a:rPr sz="1050" i="1">
                <a:solidFill>
                  <a:srgbClr val="63637E"/>
                </a:solidFill>
              </a:rPr>
              <a:t>Other rows: published. Code-retrieval embedders score higher (CodeXEmbed-400M 48.57, published); execution reranking can sit on top of any encoder.</a:t>
            </a:r>
          </a:p>
        </p:txBody>
      </p:sp>
    </p:spTree>
    <p:extLst>
      <p:ext uri="{BB962C8B-B14F-4D97-AF65-F5344CB8AC3E}">
        <p14:creationId xmlns:p14="http://schemas.microsoft.com/office/powerpoint/2010/main" val="19932370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pPr>
              <a:spcAft>
                <a:spcPts val="500"/>
              </a:spcAft>
              <a:buSzPct val="100000"/>
            </a:pPr>
            <a:r>
              <a:rPr lang="en-US" sz="4400" b="1" dirty="0">
                <a:solidFill>
                  <a:srgbClr val="704EA6"/>
                </a:solidFill>
                <a:latin typeface="Calibri" pitchFamily="34" charset="0"/>
                <a:ea typeface="Calibri" pitchFamily="34" charset="-122"/>
                <a:cs typeface="Calibri" pitchFamily="34" charset="-120"/>
              </a:rPr>
              <a:t>What’s next</a:t>
            </a:r>
            <a:endParaRPr lang="en-US" sz="4400" b="1" dirty="0">
              <a:solidFill>
                <a:srgbClr val="704EA6"/>
              </a:solidFill>
            </a:endParaRP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wrap="square"/>
          <a:lstStyle/>
          <a:p>
            <a:pPr>
              <a:spcAft>
                <a:spcPts val="500"/>
              </a:spcAft>
            </a:pPr>
            <a:r>
              <a:rPr b="1" sz="2000">
                <a:solidFill>
                  <a:srgbClr val="6D28D9"/>
                </a:solidFill>
              </a:rPr>
              <a:t>Stronger stage 1: </a:t>
            </a:r>
            <a:r>
              <a:rPr sz="2000">
                <a:solidFill>
                  <a:srgbClr val="14142B"/>
                </a:solidFill>
              </a:rPr>
              <a:t>finish CodeXEmbed-400M on CPU (48.57 dense, published, vs 11.52), giving execution a far better pool to rerank</a:t>
            </a:r>
            <a:endParaRPr lang="en-IN" dirty="0"/>
          </a:p>
          <a:p>
            <a:pPr>
              <a:spcAft>
                <a:spcPts val="500"/>
              </a:spcAft>
            </a:pPr>
            <a:r>
              <a:rPr b="1" sz="2000">
                <a:solidFill>
                  <a:srgbClr val="6D28D9"/>
                </a:solidFill>
              </a:rPr>
              <a:t>Deeper execution: </a:t>
            </a:r>
            <a:r>
              <a:rPr sz="2000">
                <a:solidFill>
                  <a:srgbClr val="14142B"/>
                </a:solidFill>
              </a:rPr>
              <a:t>recall of the correct program rises from 28% at top 50 to 56% at top 500; needs ~1.5M fast, parallel runs</a:t>
            </a:r>
          </a:p>
          <a:p>
            <a:pPr>
              <a:spcAft>
                <a:spcPts val="500"/>
              </a:spcAft>
            </a:pPr>
            <a:r>
              <a:rPr b="1" sz="2000">
                <a:solidFill>
                  <a:srgbClr val="6D28D9"/>
                </a:solidFill>
              </a:rPr>
              <a:t>Tests where none exist: </a:t>
            </a:r>
            <a:r>
              <a:rPr sz="2000">
                <a:solidFill>
                  <a:srgbClr val="14142B"/>
                </a:solidFill>
              </a:rPr>
              <a:t>for the 22% of queries without examples, generate inputs and rank candidates by agreement (differential testing)</a:t>
            </a:r>
          </a:p>
          <a:p>
            <a:pPr>
              <a:spcAft>
                <a:spcPts val="500"/>
              </a:spcAft>
            </a:pPr>
            <a:r>
              <a:rPr b="1" sz="2000">
                <a:solidFill>
                  <a:srgbClr val="6D28D9"/>
                </a:solidFill>
              </a:rPr>
              <a:t>Harder sandbox: </a:t>
            </a:r>
            <a:r>
              <a:rPr sz="2000">
                <a:solidFill>
                  <a:srgbClr val="14142B"/>
                </a:solidFill>
              </a:rPr>
              <a:t>containers with --network none and memory caps as the default execution path</a:t>
            </a:r>
          </a:p>
          <a:p>
            <a:pPr>
              <a:spcAft>
                <a:spcPts val="500"/>
              </a:spcAft>
            </a:pPr>
            <a:r>
              <a:rPr b="1" sz="2000">
                <a:solidFill>
                  <a:srgbClr val="6D28D9"/>
                </a:solidFill>
              </a:rPr>
              <a:t>P1, measured: </a:t>
            </a:r>
            <a:r>
              <a:rPr sz="2000">
                <a:solidFill>
                  <a:srgbClr val="14142B"/>
                </a:solidFill>
              </a:rPr>
              <a:t>re-index an edited corpus version and report what was re-embedded and what changed in the ranking</a:t>
            </a:r>
          </a:p>
        </p:txBody>
      </p:sp>
    </p:spTree>
    <p:extLst>
      <p:ext uri="{BB962C8B-B14F-4D97-AF65-F5344CB8AC3E}">
        <p14:creationId xmlns:p14="http://schemas.microsoft.com/office/powerpoint/2010/main" val="39859146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pPr>
              <a:spcAft>
                <a:spcPts val="500"/>
              </a:spcAft>
              <a:buSzPct val="100000"/>
            </a:pPr>
            <a:r>
              <a:rPr lang="en-US" sz="4400" b="1" dirty="0">
                <a:solidFill>
                  <a:srgbClr val="704EA6"/>
                </a:solidFill>
                <a:latin typeface="Calibri" pitchFamily="34" charset="0"/>
                <a:ea typeface="Calibri" pitchFamily="34" charset="-122"/>
                <a:cs typeface="Calibri" pitchFamily="34" charset="-120"/>
              </a:rPr>
              <a:t>Brownie points slide( differentiation)</a:t>
            </a:r>
            <a:endParaRPr lang="en-US" sz="4400" b="1" dirty="0">
              <a:solidFill>
                <a:srgbClr val="704EA6"/>
              </a:solidFill>
            </a:endParaRP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wrap="square"/>
          <a:lstStyle/>
          <a:p>
            <a:pPr>
              <a:spcAft>
                <a:spcPts val="500"/>
              </a:spcAft>
            </a:pPr>
            <a:r>
              <a:rPr b="1" sz="1700">
                <a:solidFill>
                  <a:srgbClr val="6D28D9"/>
                </a:solidFill>
              </a:rPr>
              <a:t>Relevance is checked, not estimated: </a:t>
            </a:r>
            <a:r>
              <a:rPr sz="1700">
                <a:solidFill>
                  <a:srgbClr val="14142B"/>
                </a:solidFill>
              </a:rPr>
              <a:t>our largest gain comes from running code, with no extra neural model</a:t>
            </a:r>
            <a:endParaRPr lang="en-IN" dirty="0"/>
          </a:p>
          <a:p>
            <a:pPr>
              <a:spcAft>
                <a:spcPts val="500"/>
              </a:spcAft>
            </a:pPr>
            <a:r>
              <a:rPr b="1" sz="1700">
                <a:solidFill>
                  <a:srgbClr val="6D28D9"/>
                </a:solidFill>
              </a:rPr>
              <a:t>Honest numbers: </a:t>
            </a:r>
            <a:r>
              <a:rPr sz="1700">
                <a:solidFill>
                  <a:srgbClr val="14142B"/>
                </a:solidFill>
              </a:rPr>
              <a:t>an early 30.74 from a 150-query sample was dropped; only the full-split 20.71 is claimed</a:t>
            </a:r>
          </a:p>
          <a:p>
            <a:pPr>
              <a:spcAft>
                <a:spcPts val="500"/>
              </a:spcAft>
            </a:pPr>
            <a:r>
              <a:rPr b="1" sz="1700">
                <a:solidFill>
                  <a:srgbClr val="6D28D9"/>
                </a:solidFill>
              </a:rPr>
              <a:t>Reproducible: </a:t>
            </a:r>
            <a:r>
              <a:rPr sz="1700">
                <a:solidFill>
                  <a:srgbClr val="14142B"/>
                </a:solidFill>
              </a:rPr>
              <a:t>one command writes the official MTEB JSON; analyze.py recomputes every score offline in seconds</a:t>
            </a:r>
          </a:p>
          <a:p>
            <a:pPr>
              <a:spcAft>
                <a:spcPts val="500"/>
              </a:spcAft>
            </a:pPr>
            <a:r>
              <a:rPr b="1" sz="1700">
                <a:solidFill>
                  <a:srgbClr val="6D28D9"/>
                </a:solidFill>
              </a:rPr>
              <a:t>Engineering for current libraries: </a:t>
            </a:r>
            <a:r>
              <a:rPr sz="1700">
                <a:solidFill>
                  <a:srgbClr val="14142B"/>
                </a:solidFill>
              </a:rPr>
              <a:t>Windows DLL import order, MTEB JSON export, CodeXEmbed on transformers 5, fp32 over emulated bf16 on CPU (7.5× faster)</a:t>
            </a:r>
          </a:p>
          <a:p>
            <a:pPr>
              <a:spcAft>
                <a:spcPts val="500"/>
              </a:spcAft>
            </a:pPr>
            <a:r>
              <a:rPr b="1" sz="1700">
                <a:solidFill>
                  <a:srgbClr val="6D28D9"/>
                </a:solidFill>
              </a:rPr>
              <a:t>Resumable at scale: </a:t>
            </a:r>
            <a:r>
              <a:rPr sz="1700">
                <a:solidFill>
                  <a:srgbClr val="14142B"/>
                </a:solidFill>
              </a:rPr>
              <a:t>146,800 program executions cached by content; an interrupted run resumes where it stopped</a:t>
            </a:r>
          </a:p>
          <a:p>
            <a:pPr>
              <a:spcAft>
                <a:spcPts val="500"/>
              </a:spcAft>
            </a:pPr>
            <a:r>
              <a:rPr b="1" sz="1700">
                <a:solidFill>
                  <a:srgbClr val="6D28D9"/>
                </a:solidFill>
              </a:rPr>
              <a:t>Prior art acknowledged: </a:t>
            </a:r>
            <a:r>
              <a:rPr sz="1700">
                <a:solidFill>
                  <a:srgbClr val="14142B"/>
                </a:solidFill>
              </a:rPr>
              <a:t>ExecRetrieval (arXiv 2609.01865) studies execution reranking on APPS. Our contribution is the CPU-only pipeline, scored end to end in MTEB, with versioned indexes.</a:t>
            </a:r>
          </a:p>
        </p:txBody>
      </p:sp>
    </p:spTree>
    <p:extLst>
      <p:ext uri="{BB962C8B-B14F-4D97-AF65-F5344CB8AC3E}">
        <p14:creationId xmlns:p14="http://schemas.microsoft.com/office/powerpoint/2010/main" val="20955176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4E28A-8ABF-4E15-B9E1-B0F49C0EE29F}"/>
              </a:ext>
            </a:extLst>
          </p:cNvPr>
          <p:cNvSpPr>
            <a:spLocks noGrp="1"/>
          </p:cNvSpPr>
          <p:nvPr>
            <p:ph type="title"/>
          </p:nvPr>
        </p:nvSpPr>
        <p:spPr/>
        <p:txBody>
          <a:bodyPr/>
          <a:lstStyle/>
          <a:p>
            <a:r>
              <a:rPr lang="en-IN" b="1" dirty="0">
                <a:solidFill>
                  <a:srgbClr val="704EA6"/>
                </a:solidFill>
                <a:latin typeface="+mn-lt"/>
              </a:rPr>
              <a:t>Checklist- Updated on Public GitHub</a:t>
            </a:r>
          </a:p>
        </p:txBody>
      </p:sp>
      <p:sp>
        <p:nvSpPr>
          <p:cNvPr id="3" name="Content Placeholder 2">
            <a:extLst>
              <a:ext uri="{FF2B5EF4-FFF2-40B4-BE49-F238E27FC236}">
                <a16:creationId xmlns:a16="http://schemas.microsoft.com/office/drawing/2014/main" id="{DAB3E6F6-9D00-4480-90E6-EC3C876F2628}"/>
              </a:ext>
            </a:extLst>
          </p:cNvPr>
          <p:cNvSpPr>
            <a:spLocks noGrp="1"/>
          </p:cNvSpPr>
          <p:nvPr>
            <p:ph idx="1"/>
          </p:nvPr>
        </p:nvSpPr>
        <p:spPr/>
        <p:txBody>
          <a:bodyPr wrap="square"/>
          <a:lstStyle/>
          <a:p>
            <a:pPr marL="177800" indent="-177800">
              <a:spcAft>
                <a:spcPts val="500"/>
              </a:spcAft>
              <a:buSzPct val="100000"/>
              <a:buChar char="•"/>
            </a:pPr>
            <a:r>
              <a:rPr b="1" sz="2200">
                <a:solidFill>
                  <a:srgbClr val="6D28D9"/>
                </a:solidFill>
              </a:rPr>
              <a:t>Working prototype code, public GitHub repo (Y): </a:t>
            </a:r>
            <a:r>
              <a:rPr sz="2200">
                <a:solidFill>
                  <a:srgbClr val="14142B"/>
                </a:solidFill>
              </a:rPr>
              <a:t>https://github.com/Chiranjib-x/prism-genai-code-retrieval</a:t>
            </a:r>
            <a:endParaRPr lang="en-US" sz="2800" dirty="0"/>
          </a:p>
          <a:p>
            <a:pPr>
              <a:spcAft>
                <a:spcPts val="500"/>
              </a:spcAft>
            </a:pPr>
            <a:r>
              <a:rPr sz="2200">
                <a:solidFill>
                  <a:srgbClr val="14142B"/>
                </a:solidFill>
              </a:rPr>
              <a:t>README with reproducible setup instructions (Y)</a:t>
            </a:r>
          </a:p>
          <a:p>
            <a:pPr>
              <a:spcAft>
                <a:spcPts val="500"/>
              </a:spcAft>
            </a:pPr>
            <a:r>
              <a:rPr b="1" sz="2200">
                <a:solidFill>
                  <a:srgbClr val="6D28D9"/>
                </a:solidFill>
              </a:rPr>
              <a:t>Demo video, max 5 minutes: </a:t>
            </a:r>
            <a:r>
              <a:rPr sz="2200">
                <a:solidFill>
                  <a:srgbClr val="14142B"/>
                </a:solidFill>
              </a:rPr>
              <a:t>https://youtu.be/WuWeffTKWeM</a:t>
            </a:r>
          </a:p>
          <a:p>
            <a:pPr>
              <a:spcAft>
                <a:spcPts val="500"/>
              </a:spcAft>
            </a:pPr>
            <a:r>
              <a:rPr sz="2200">
                <a:solidFill>
                  <a:srgbClr val="14142B"/>
                </a:solidFill>
              </a:rPr>
              <a:t>Presentation file, PPT and PDF (Y)</a:t>
            </a:r>
          </a:p>
          <a:p>
            <a:pPr>
              <a:spcAft>
                <a:spcPts val="500"/>
              </a:spcAft>
            </a:pPr>
            <a:r>
              <a:rPr b="1" sz="2200">
                <a:solidFill>
                  <a:srgbClr val="6D28D9"/>
                </a:solidFill>
              </a:rPr>
              <a:t>AI disclosure (Y): </a:t>
            </a:r>
            <a:r>
              <a:rPr sz="2200">
                <a:solidFill>
                  <a:srgbClr val="14142B"/>
                </a:solidFill>
              </a:rPr>
              <a:t>AI_DISCLOSURE.md in the repo</a:t>
            </a:r>
          </a:p>
          <a:p>
            <a:pPr>
              <a:spcAft>
                <a:spcPts val="500"/>
              </a:spcAft>
            </a:pPr>
            <a:r>
              <a:rPr b="1" sz="2200">
                <a:solidFill>
                  <a:srgbClr val="6D28D9"/>
                </a:solidFill>
              </a:rPr>
              <a:t>Release tag (Y): </a:t>
            </a:r>
            <a:r>
              <a:rPr sz="2200">
                <a:solidFill>
                  <a:srgbClr val="14142B"/>
                </a:solidFill>
              </a:rPr>
              <a:t>PRISM_GENAI_HACKATHON_Y2026, with the MTEB results JSON</a:t>
            </a:r>
          </a:p>
        </p:txBody>
      </p:sp>
    </p:spTree>
    <p:extLst>
      <p:ext uri="{BB962C8B-B14F-4D97-AF65-F5344CB8AC3E}">
        <p14:creationId xmlns:p14="http://schemas.microsoft.com/office/powerpoint/2010/main" val="1806993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1046181" y="3730214"/>
            <a:ext cx="6766560" cy="868680"/>
          </a:xfrm>
          <a:prstGeom prst="rect">
            <a:avLst/>
          </a:prstGeom>
          <a:noFill/>
          <a:ln/>
        </p:spPr>
        <p:txBody>
          <a:bodyPr wrap="square" lIns="0" tIns="0" rIns="0" bIns="0" rtlCol="0" anchor="ctr"/>
          <a:lstStyle/>
          <a:p>
            <a:pPr marL="0" indent="0">
              <a:buNone/>
            </a:pPr>
            <a:r>
              <a:rPr lang="en-US" sz="4600" b="1" dirty="0">
                <a:solidFill>
                  <a:srgbClr val="14142B"/>
                </a:solidFill>
                <a:latin typeface="Arial" pitchFamily="34" charset="0"/>
                <a:ea typeface="Arial" pitchFamily="34" charset="-122"/>
                <a:cs typeface="Arial" pitchFamily="34" charset="-120"/>
              </a:rPr>
              <a:t>Thank you</a:t>
            </a:r>
            <a:endParaRPr lang="en-US" sz="4600" dirty="0"/>
          </a:p>
        </p:txBody>
      </p:sp>
      <p:sp>
        <p:nvSpPr>
          <p:cNvPr id="28" name="Text 25"/>
          <p:cNvSpPr txBox="1"/>
          <p:nvPr/>
        </p:nvSpPr>
        <p:spPr>
          <a:xfrm>
            <a:off x="777240" y="5897880"/>
            <a:ext cx="10607040" cy="292608"/>
          </a:xfrm>
          <a:prstGeom prst="rect">
            <a:avLst/>
          </a:prstGeom>
          <a:noFill/>
          <a:ln/>
        </p:spPr>
        <p:txBody>
          <a:bodyPr wrap="square" lIns="0" tIns="0" rIns="0" bIns="0" rtlCol="0" anchor="ctr"/>
          <a:lstStyle/>
          <a:p>
            <a:pPr marL="0" indent="0">
              <a:buNone/>
            </a:pPr>
            <a:r>
              <a:rPr lang="en-US" sz="1100" dirty="0">
                <a:solidFill>
                  <a:srgbClr val="63637E"/>
                </a:solidFill>
                <a:latin typeface="Calibri" pitchFamily="34" charset="0"/>
                <a:ea typeface="Calibri" pitchFamily="34" charset="-122"/>
                <a:cs typeface="Calibri" pitchFamily="34" charset="-120"/>
              </a:rPr>
              <a:t>Organised by the Language AI Team and the PRISM Team, Samsung R&amp;D Institute India</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65</TotalTime>
  <Words>266</Words>
  <Application>Microsoft Office PowerPoint</Application>
  <PresentationFormat>Widescreen</PresentationFormat>
  <Paragraphs>32</Paragraphs>
  <Slides>12</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PowerPoint Presentation</vt:lpstr>
      <vt:lpstr>Theme</vt:lpstr>
      <vt:lpstr>Existing Solutions &amp; Gaps</vt:lpstr>
      <vt:lpstr>Our Solutions &amp; Architecture Diagram</vt:lpstr>
      <vt:lpstr>Demo &amp; Product Walkthrough</vt:lpstr>
      <vt:lpstr>Tools and tech stack used</vt:lpstr>
      <vt:lpstr>Impact &amp; Use case</vt:lpstr>
      <vt:lpstr>Innovation highlights, results and limitations</vt:lpstr>
      <vt:lpstr>What’s next</vt:lpstr>
      <vt:lpstr>Brownie points slide( differentiation)</vt:lpstr>
      <vt:lpstr>Checklist- Updated on Public GitHub</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Binny Lakra/PRISM /SRI-Bangalore/Professional/Samsung Electronics</dc:creator>
  <cp:lastModifiedBy>Binny Lakra/PRISM /SRI-Bangalore/Professional/Samsung Electronics</cp:lastModifiedBy>
  <cp:revision>6</cp:revision>
  <dcterms:created xsi:type="dcterms:W3CDTF">2026-09-07T12:01:01Z</dcterms:created>
  <dcterms:modified xsi:type="dcterms:W3CDTF">2026-09-08T10:03:30Z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ies>
</file>